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Poppins Bold" charset="1" panose="00000800000000000000"/>
      <p:regular r:id="rId18"/>
    </p:embeddedFont>
    <p:embeddedFont>
      <p:font typeface="Poppins" charset="1" panose="00000500000000000000"/>
      <p:regular r:id="rId19"/>
    </p:embeddedFont>
    <p:embeddedFont>
      <p:font typeface="Poppins Italics" charset="1" panose="000005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2.xml" Type="http://schemas.openxmlformats.org/officeDocument/2006/relationships/notesSlide"/><Relationship Id="rId25" Target="notesSlides/notesSlide3.xml" Type="http://schemas.openxmlformats.org/officeDocument/2006/relationships/notesSlide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31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2133">
            <a:off x="-4968932" y="4116008"/>
            <a:ext cx="12625598" cy="12625598"/>
          </a:xfrm>
          <a:custGeom>
            <a:avLst/>
            <a:gdLst/>
            <a:ahLst/>
            <a:cxnLst/>
            <a:rect r="r" b="b" t="t" l="l"/>
            <a:pathLst>
              <a:path h="12625598" w="12625598">
                <a:moveTo>
                  <a:pt x="0" y="0"/>
                </a:moveTo>
                <a:lnTo>
                  <a:pt x="12625598" y="0"/>
                </a:lnTo>
                <a:lnTo>
                  <a:pt x="12625598" y="12625598"/>
                </a:lnTo>
                <a:lnTo>
                  <a:pt x="0" y="12625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031763" y="7829353"/>
            <a:ext cx="10981320" cy="10981320"/>
          </a:xfrm>
          <a:custGeom>
            <a:avLst/>
            <a:gdLst/>
            <a:ahLst/>
            <a:cxnLst/>
            <a:rect r="r" b="b" t="t" l="l"/>
            <a:pathLst>
              <a:path h="10981320" w="10981320">
                <a:moveTo>
                  <a:pt x="0" y="0"/>
                </a:moveTo>
                <a:lnTo>
                  <a:pt x="10981320" y="0"/>
                </a:lnTo>
                <a:lnTo>
                  <a:pt x="10981320" y="10981320"/>
                </a:lnTo>
                <a:lnTo>
                  <a:pt x="0" y="10981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152272" y="-5807257"/>
            <a:ext cx="12625598" cy="12625598"/>
          </a:xfrm>
          <a:custGeom>
            <a:avLst/>
            <a:gdLst/>
            <a:ahLst/>
            <a:cxnLst/>
            <a:rect r="r" b="b" t="t" l="l"/>
            <a:pathLst>
              <a:path h="12625598" w="12625598">
                <a:moveTo>
                  <a:pt x="0" y="0"/>
                </a:moveTo>
                <a:lnTo>
                  <a:pt x="12625598" y="0"/>
                </a:lnTo>
                <a:lnTo>
                  <a:pt x="12625598" y="12625598"/>
                </a:lnTo>
                <a:lnTo>
                  <a:pt x="0" y="12625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42686" y="-7482098"/>
            <a:ext cx="10389746" cy="10389746"/>
          </a:xfrm>
          <a:custGeom>
            <a:avLst/>
            <a:gdLst/>
            <a:ahLst/>
            <a:cxnLst/>
            <a:rect r="r" b="b" t="t" l="l"/>
            <a:pathLst>
              <a:path h="10389746" w="10389746">
                <a:moveTo>
                  <a:pt x="0" y="0"/>
                </a:moveTo>
                <a:lnTo>
                  <a:pt x="10389746" y="0"/>
                </a:lnTo>
                <a:lnTo>
                  <a:pt x="10389746" y="10389746"/>
                </a:lnTo>
                <a:lnTo>
                  <a:pt x="0" y="1038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34884" y="7608818"/>
            <a:ext cx="4584441" cy="458444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gradFill>
                <a:gsLst>
                  <a:gs pos="0">
                    <a:srgbClr val="7AFFE6">
                      <a:alpha val="100000"/>
                    </a:srgbClr>
                  </a:gs>
                  <a:gs pos="33333">
                    <a:srgbClr val="3A8B7E">
                      <a:alpha val="100000"/>
                    </a:srgbClr>
                  </a:gs>
                  <a:gs pos="66667">
                    <a:srgbClr val="131416">
                      <a:alpha val="100000"/>
                    </a:srgbClr>
                  </a:gs>
                  <a:gs pos="100000">
                    <a:srgbClr val="131416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1185594" y="9258300"/>
            <a:ext cx="6492240" cy="0"/>
          </a:xfrm>
          <a:prstGeom prst="line">
            <a:avLst/>
          </a:prstGeom>
          <a:ln cap="flat" w="95250">
            <a:gradFill>
              <a:gsLst>
                <a:gs pos="0">
                  <a:srgbClr val="ED47E6">
                    <a:alpha val="100000"/>
                  </a:srgbClr>
                </a:gs>
                <a:gs pos="50000">
                  <a:srgbClr val="FD5EA5">
                    <a:alpha val="100000"/>
                  </a:srgbClr>
                </a:gs>
                <a:gs pos="100000">
                  <a:srgbClr val="FFAED2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4340127" y="2773304"/>
            <a:ext cx="12434772" cy="424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25"/>
              </a:lnSpc>
            </a:pPr>
            <a:r>
              <a:rPr lang="en-US" sz="17415" spc="-109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DBSCAN</a:t>
            </a:r>
          </a:p>
          <a:p>
            <a:pPr algn="l">
              <a:lnSpc>
                <a:spcPts val="15325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2276502">
            <a:off x="15172850" y="-1786679"/>
            <a:ext cx="4584441" cy="458444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7150" cap="sq">
              <a:gradFill>
                <a:gsLst>
                  <a:gs pos="0">
                    <a:srgbClr val="0098CF">
                      <a:alpha val="100000"/>
                    </a:srgbClr>
                  </a:gs>
                  <a:gs pos="50000">
                    <a:srgbClr val="6171BB">
                      <a:alpha val="100000"/>
                    </a:srgbClr>
                  </a:gs>
                  <a:gs pos="100000">
                    <a:srgbClr val="E6EB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370440" y="9442322"/>
            <a:ext cx="7307393" cy="47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62"/>
              </a:lnSpc>
            </a:pPr>
            <a:r>
              <a:rPr lang="en-US" sz="2003" spc="5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Fundación Universitaria Los Libertadores</a:t>
            </a:r>
          </a:p>
          <a:p>
            <a:pPr algn="r">
              <a:lnSpc>
                <a:spcPts val="1762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2106834" y="7454156"/>
            <a:ext cx="5152466" cy="1345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2"/>
              </a:lnSpc>
            </a:pPr>
            <a:r>
              <a:rPr lang="en-US" sz="2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Integrantes:</a:t>
            </a:r>
          </a:p>
          <a:p>
            <a:pPr algn="r">
              <a:lnSpc>
                <a:spcPts val="2622"/>
              </a:lnSpc>
            </a:pPr>
            <a:r>
              <a:rPr lang="en-US" sz="2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Sariaht Ariza</a:t>
            </a:r>
          </a:p>
          <a:p>
            <a:pPr algn="r">
              <a:lnSpc>
                <a:spcPts val="2622"/>
              </a:lnSpc>
            </a:pPr>
            <a:r>
              <a:rPr lang="en-US" sz="2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Adriana Carreño</a:t>
            </a:r>
          </a:p>
          <a:p>
            <a:pPr algn="r">
              <a:lnSpc>
                <a:spcPts val="2622"/>
              </a:lnSpc>
            </a:pPr>
            <a:r>
              <a:rPr lang="en-US" sz="27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Brandon Linares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93590" y="5281601"/>
            <a:ext cx="14900821" cy="850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26"/>
              </a:lnSpc>
              <a:spcBef>
                <a:spcPct val="0"/>
              </a:spcBef>
            </a:pPr>
            <a:r>
              <a:rPr lang="en-US" sz="39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Density-Based Spatia</a:t>
            </a:r>
            <a:r>
              <a:rPr lang="en-US" sz="398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 Clustering of Applications with Noise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9803" y="1082678"/>
            <a:ext cx="497435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es DBSCAN?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190750"/>
            <a:ext cx="8058150" cy="7524750"/>
            <a:chOff x="0" y="0"/>
            <a:chExt cx="10744200" cy="10033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44200" cy="10033000"/>
            </a:xfrm>
            <a:custGeom>
              <a:avLst/>
              <a:gdLst/>
              <a:ahLst/>
              <a:cxnLst/>
              <a:rect r="r" b="b" t="t" l="l"/>
              <a:pathLst>
                <a:path h="10033000" w="10744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541000" y="0"/>
                  </a:lnTo>
                  <a:cubicBezTo>
                    <a:pt x="10653268" y="0"/>
                    <a:pt x="10744200" y="90932"/>
                    <a:pt x="10744200" y="203200"/>
                  </a:cubicBezTo>
                  <a:lnTo>
                    <a:pt x="10744200" y="9829800"/>
                  </a:lnTo>
                  <a:cubicBezTo>
                    <a:pt x="10744200" y="9942068"/>
                    <a:pt x="10653268" y="10033000"/>
                    <a:pt x="10541000" y="10033000"/>
                  </a:cubicBezTo>
                  <a:lnTo>
                    <a:pt x="203200" y="10033000"/>
                  </a:lnTo>
                  <a:cubicBezTo>
                    <a:pt x="90932" y="10033000"/>
                    <a:pt x="0" y="9942068"/>
                    <a:pt x="0" y="982980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0750"/>
            <a:ext cx="38100" cy="7524750"/>
            <a:chOff x="0" y="0"/>
            <a:chExt cx="50800" cy="1003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10033000"/>
            </a:xfrm>
            <a:custGeom>
              <a:avLst/>
              <a:gdLst/>
              <a:ahLst/>
              <a:cxnLst/>
              <a:rect r="r" b="b" t="t" l="l"/>
              <a:pathLst>
                <a:path h="10033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0033000"/>
                  </a:lnTo>
                  <a:lnTo>
                    <a:pt x="0" y="100330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358903" y="2578103"/>
            <a:ext cx="742499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DEFINICIÓN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8903" y="2911478"/>
            <a:ext cx="7424995" cy="431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Propuesto por Ester, Kriegel, Sander y Xu (1996), </a:t>
            </a:r>
            <a:r>
              <a:rPr lang="en-US" sz="22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DBSCAN agrupa puntos densamente conectados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en el espacio de características y marca como ruido aquellos en regiones de baja densidad. No requiere especificar el número de clusters K. Detecta clusters de forma arbitraria e identifica outliers automáticamente. Solo necesita 2 hiperparámetros: </a:t>
            </a:r>
            <a:r>
              <a:rPr lang="en-US" sz="22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eps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lang="en-US" sz="22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min_samples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8903" y="8997953"/>
            <a:ext cx="742499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55607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Ester, Kriegel, Sander &amp; Xu — KDD-96 [1]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40853" y="2197103"/>
            <a:ext cx="82490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556070"/>
                </a:solidFill>
                <a:latin typeface="Poppins Bold"/>
                <a:ea typeface="Poppins Bold"/>
                <a:cs typeface="Poppins Bold"/>
                <a:sym typeface="Poppins Bold"/>
              </a:rPr>
              <a:t>HIPERPARÁMETROS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08306" y="2659856"/>
            <a:ext cx="8072438" cy="723900"/>
            <a:chOff x="0" y="0"/>
            <a:chExt cx="10763250" cy="96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63250" cy="965200"/>
            </a:xfrm>
            <a:custGeom>
              <a:avLst/>
              <a:gdLst/>
              <a:ahLst/>
              <a:cxnLst/>
              <a:rect r="r" b="b" t="t" l="l"/>
              <a:pathLst>
                <a:path h="965200" w="10763250">
                  <a:moveTo>
                    <a:pt x="0" y="136525"/>
                  </a:moveTo>
                  <a:cubicBezTo>
                    <a:pt x="0" y="60960"/>
                    <a:pt x="62357" y="0"/>
                    <a:pt x="138811" y="0"/>
                  </a:cubicBezTo>
                  <a:lnTo>
                    <a:pt x="10624439" y="0"/>
                  </a:lnTo>
                  <a:lnTo>
                    <a:pt x="10624439" y="9525"/>
                  </a:lnTo>
                  <a:lnTo>
                    <a:pt x="10624439" y="0"/>
                  </a:lnTo>
                  <a:cubicBezTo>
                    <a:pt x="10701020" y="0"/>
                    <a:pt x="10763250" y="60960"/>
                    <a:pt x="10763250" y="136525"/>
                  </a:cubicBezTo>
                  <a:lnTo>
                    <a:pt x="10753725" y="136525"/>
                  </a:lnTo>
                  <a:lnTo>
                    <a:pt x="10763250" y="136525"/>
                  </a:lnTo>
                  <a:lnTo>
                    <a:pt x="10763250" y="828675"/>
                  </a:lnTo>
                  <a:lnTo>
                    <a:pt x="10753725" y="828675"/>
                  </a:lnTo>
                  <a:lnTo>
                    <a:pt x="10763250" y="828675"/>
                  </a:lnTo>
                  <a:cubicBezTo>
                    <a:pt x="10763250" y="904240"/>
                    <a:pt x="10700893" y="965200"/>
                    <a:pt x="10624439" y="965200"/>
                  </a:cubicBezTo>
                  <a:lnTo>
                    <a:pt x="10624439" y="955675"/>
                  </a:lnTo>
                  <a:lnTo>
                    <a:pt x="10624439" y="965200"/>
                  </a:lnTo>
                  <a:lnTo>
                    <a:pt x="138811" y="965200"/>
                  </a:lnTo>
                  <a:lnTo>
                    <a:pt x="138811" y="955675"/>
                  </a:lnTo>
                  <a:lnTo>
                    <a:pt x="138811" y="965200"/>
                  </a:lnTo>
                  <a:cubicBezTo>
                    <a:pt x="62357" y="965200"/>
                    <a:pt x="0" y="904240"/>
                    <a:pt x="0" y="828675"/>
                  </a:cubicBezTo>
                  <a:lnTo>
                    <a:pt x="0" y="136525"/>
                  </a:lnTo>
                  <a:lnTo>
                    <a:pt x="9525" y="136525"/>
                  </a:lnTo>
                  <a:lnTo>
                    <a:pt x="0" y="136525"/>
                  </a:lnTo>
                  <a:moveTo>
                    <a:pt x="19050" y="136525"/>
                  </a:moveTo>
                  <a:lnTo>
                    <a:pt x="19050" y="828675"/>
                  </a:lnTo>
                  <a:lnTo>
                    <a:pt x="9525" y="828675"/>
                  </a:lnTo>
                  <a:lnTo>
                    <a:pt x="19050" y="828675"/>
                  </a:lnTo>
                  <a:cubicBezTo>
                    <a:pt x="19050" y="893445"/>
                    <a:pt x="72517" y="946150"/>
                    <a:pt x="138811" y="946150"/>
                  </a:cubicBezTo>
                  <a:lnTo>
                    <a:pt x="10624439" y="946150"/>
                  </a:lnTo>
                  <a:cubicBezTo>
                    <a:pt x="10690733" y="946150"/>
                    <a:pt x="10744200" y="893445"/>
                    <a:pt x="10744200" y="828675"/>
                  </a:cubicBezTo>
                  <a:lnTo>
                    <a:pt x="10744200" y="136525"/>
                  </a:lnTo>
                  <a:cubicBezTo>
                    <a:pt x="10744200" y="71755"/>
                    <a:pt x="10690733" y="19050"/>
                    <a:pt x="10624439" y="19050"/>
                  </a:cubicBezTo>
                  <a:lnTo>
                    <a:pt x="138811" y="19050"/>
                  </a:lnTo>
                  <a:lnTo>
                    <a:pt x="138811" y="9525"/>
                  </a:lnTo>
                  <a:lnTo>
                    <a:pt x="138811" y="19050"/>
                  </a:lnTo>
                  <a:cubicBezTo>
                    <a:pt x="72517" y="19050"/>
                    <a:pt x="19050" y="71755"/>
                    <a:pt x="19050" y="136525"/>
                  </a:cubicBez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564691" y="2830516"/>
            <a:ext cx="51955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eps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98191" y="2854328"/>
            <a:ext cx="4420046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Radio de búsqueda de vecinos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08306" y="3502819"/>
            <a:ext cx="8072438" cy="723900"/>
            <a:chOff x="0" y="0"/>
            <a:chExt cx="10763250" cy="965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63250" cy="965200"/>
            </a:xfrm>
            <a:custGeom>
              <a:avLst/>
              <a:gdLst/>
              <a:ahLst/>
              <a:cxnLst/>
              <a:rect r="r" b="b" t="t" l="l"/>
              <a:pathLst>
                <a:path h="965200" w="10763250">
                  <a:moveTo>
                    <a:pt x="0" y="136525"/>
                  </a:moveTo>
                  <a:cubicBezTo>
                    <a:pt x="0" y="60960"/>
                    <a:pt x="62357" y="0"/>
                    <a:pt x="138811" y="0"/>
                  </a:cubicBezTo>
                  <a:lnTo>
                    <a:pt x="10624439" y="0"/>
                  </a:lnTo>
                  <a:lnTo>
                    <a:pt x="10624439" y="9525"/>
                  </a:lnTo>
                  <a:lnTo>
                    <a:pt x="10624439" y="0"/>
                  </a:lnTo>
                  <a:cubicBezTo>
                    <a:pt x="10701020" y="0"/>
                    <a:pt x="10763250" y="60960"/>
                    <a:pt x="10763250" y="136525"/>
                  </a:cubicBezTo>
                  <a:lnTo>
                    <a:pt x="10753725" y="136525"/>
                  </a:lnTo>
                  <a:lnTo>
                    <a:pt x="10763250" y="136525"/>
                  </a:lnTo>
                  <a:lnTo>
                    <a:pt x="10763250" y="828675"/>
                  </a:lnTo>
                  <a:lnTo>
                    <a:pt x="10753725" y="828675"/>
                  </a:lnTo>
                  <a:lnTo>
                    <a:pt x="10763250" y="828675"/>
                  </a:lnTo>
                  <a:cubicBezTo>
                    <a:pt x="10763250" y="904240"/>
                    <a:pt x="10700893" y="965200"/>
                    <a:pt x="10624439" y="965200"/>
                  </a:cubicBezTo>
                  <a:lnTo>
                    <a:pt x="10624439" y="955675"/>
                  </a:lnTo>
                  <a:lnTo>
                    <a:pt x="10624439" y="965200"/>
                  </a:lnTo>
                  <a:lnTo>
                    <a:pt x="138811" y="965200"/>
                  </a:lnTo>
                  <a:lnTo>
                    <a:pt x="138811" y="955675"/>
                  </a:lnTo>
                  <a:lnTo>
                    <a:pt x="138811" y="965200"/>
                  </a:lnTo>
                  <a:cubicBezTo>
                    <a:pt x="62357" y="965200"/>
                    <a:pt x="0" y="904240"/>
                    <a:pt x="0" y="828675"/>
                  </a:cubicBezTo>
                  <a:lnTo>
                    <a:pt x="0" y="136525"/>
                  </a:lnTo>
                  <a:lnTo>
                    <a:pt x="9525" y="136525"/>
                  </a:lnTo>
                  <a:lnTo>
                    <a:pt x="0" y="136525"/>
                  </a:lnTo>
                  <a:moveTo>
                    <a:pt x="19050" y="136525"/>
                  </a:moveTo>
                  <a:lnTo>
                    <a:pt x="19050" y="828675"/>
                  </a:lnTo>
                  <a:lnTo>
                    <a:pt x="9525" y="828675"/>
                  </a:lnTo>
                  <a:lnTo>
                    <a:pt x="19050" y="828675"/>
                  </a:lnTo>
                  <a:cubicBezTo>
                    <a:pt x="19050" y="893445"/>
                    <a:pt x="72517" y="946150"/>
                    <a:pt x="138811" y="946150"/>
                  </a:cubicBezTo>
                  <a:lnTo>
                    <a:pt x="10624439" y="946150"/>
                  </a:lnTo>
                  <a:cubicBezTo>
                    <a:pt x="10690733" y="946150"/>
                    <a:pt x="10744200" y="893445"/>
                    <a:pt x="10744200" y="828675"/>
                  </a:cubicBezTo>
                  <a:lnTo>
                    <a:pt x="10744200" y="136525"/>
                  </a:lnTo>
                  <a:cubicBezTo>
                    <a:pt x="10744200" y="71755"/>
                    <a:pt x="10690733" y="19050"/>
                    <a:pt x="10624439" y="19050"/>
                  </a:cubicBezTo>
                  <a:lnTo>
                    <a:pt x="138811" y="19050"/>
                  </a:lnTo>
                  <a:lnTo>
                    <a:pt x="138811" y="9525"/>
                  </a:lnTo>
                  <a:lnTo>
                    <a:pt x="138811" y="19050"/>
                  </a:lnTo>
                  <a:cubicBezTo>
                    <a:pt x="72517" y="19050"/>
                    <a:pt x="19050" y="71755"/>
                    <a:pt x="19050" y="136525"/>
                  </a:cubicBez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564691" y="3673478"/>
            <a:ext cx="1983432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min_samples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641141" y="3697291"/>
            <a:ext cx="50641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Mínimo de puntos para zona densa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40853" y="4435478"/>
            <a:ext cx="82490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556070"/>
                </a:solidFill>
                <a:latin typeface="Poppins Bold"/>
                <a:ea typeface="Poppins Bold"/>
                <a:cs typeface="Poppins Bold"/>
                <a:sym typeface="Poppins Bold"/>
              </a:rPr>
              <a:t>TIPOS DE PUNTO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315450" y="4905375"/>
            <a:ext cx="2609850" cy="1548708"/>
            <a:chOff x="0" y="0"/>
            <a:chExt cx="3479800" cy="206494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479800" cy="2064893"/>
            </a:xfrm>
            <a:custGeom>
              <a:avLst/>
              <a:gdLst/>
              <a:ahLst/>
              <a:cxnLst/>
              <a:rect r="r" b="b" t="t" l="l"/>
              <a:pathLst>
                <a:path h="2064893" w="34798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2800" y="0"/>
                  </a:lnTo>
                  <a:cubicBezTo>
                    <a:pt x="3422904" y="0"/>
                    <a:pt x="3479800" y="56896"/>
                    <a:pt x="3479800" y="127000"/>
                  </a:cubicBezTo>
                  <a:lnTo>
                    <a:pt x="3479800" y="1937893"/>
                  </a:lnTo>
                  <a:cubicBezTo>
                    <a:pt x="3479800" y="2007997"/>
                    <a:pt x="3422904" y="2064893"/>
                    <a:pt x="3352800" y="2064893"/>
                  </a:cubicBezTo>
                  <a:lnTo>
                    <a:pt x="127000" y="2064893"/>
                  </a:lnTo>
                  <a:cubicBezTo>
                    <a:pt x="56896" y="2064893"/>
                    <a:pt x="0" y="2007997"/>
                    <a:pt x="0" y="1937893"/>
                  </a:cubicBez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12303" y="5092703"/>
            <a:ext cx="229235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Core point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12303" y="5511803"/>
            <a:ext cx="2292353" cy="1162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1800">
                <a:solidFill>
                  <a:srgbClr val="FFFFFF">
                    <a:alpha val="6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≥ min_samples vecinos dentro de eps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2039600" y="4905375"/>
            <a:ext cx="2609850" cy="1548708"/>
            <a:chOff x="0" y="0"/>
            <a:chExt cx="3479800" cy="20649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79800" cy="2064893"/>
            </a:xfrm>
            <a:custGeom>
              <a:avLst/>
              <a:gdLst/>
              <a:ahLst/>
              <a:cxnLst/>
              <a:rect r="r" b="b" t="t" l="l"/>
              <a:pathLst>
                <a:path h="2064893" w="34798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2800" y="0"/>
                  </a:lnTo>
                  <a:cubicBezTo>
                    <a:pt x="3422904" y="0"/>
                    <a:pt x="3479800" y="56896"/>
                    <a:pt x="3479800" y="127000"/>
                  </a:cubicBezTo>
                  <a:lnTo>
                    <a:pt x="3479800" y="1937893"/>
                  </a:lnTo>
                  <a:cubicBezTo>
                    <a:pt x="3479800" y="2007997"/>
                    <a:pt x="3422904" y="2064893"/>
                    <a:pt x="3352800" y="2064893"/>
                  </a:cubicBezTo>
                  <a:lnTo>
                    <a:pt x="127000" y="2064893"/>
                  </a:lnTo>
                  <a:cubicBezTo>
                    <a:pt x="56896" y="2064893"/>
                    <a:pt x="0" y="2007997"/>
                    <a:pt x="0" y="1937893"/>
                  </a:cubicBezTo>
                  <a:close/>
                </a:path>
              </a:pathLst>
            </a:custGeom>
            <a:solidFill>
              <a:srgbClr val="3B74D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236453" y="5092703"/>
            <a:ext cx="229235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Border point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236453" y="5511803"/>
            <a:ext cx="2292353" cy="77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1800">
                <a:solidFill>
                  <a:srgbClr val="FFFFFF">
                    <a:alpha val="6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En vecindad de core, no es core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4763750" y="4905375"/>
            <a:ext cx="2609850" cy="1548708"/>
            <a:chOff x="0" y="0"/>
            <a:chExt cx="3479800" cy="206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9800" cy="2064893"/>
            </a:xfrm>
            <a:custGeom>
              <a:avLst/>
              <a:gdLst/>
              <a:ahLst/>
              <a:cxnLst/>
              <a:rect r="r" b="b" t="t" l="l"/>
              <a:pathLst>
                <a:path h="2064893" w="34798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352800" y="0"/>
                  </a:lnTo>
                  <a:cubicBezTo>
                    <a:pt x="3422904" y="0"/>
                    <a:pt x="3479800" y="56896"/>
                    <a:pt x="3479800" y="127000"/>
                  </a:cubicBezTo>
                  <a:lnTo>
                    <a:pt x="3479800" y="1937893"/>
                  </a:lnTo>
                  <a:cubicBezTo>
                    <a:pt x="3479800" y="2007997"/>
                    <a:pt x="3422904" y="2064893"/>
                    <a:pt x="3352800" y="2064893"/>
                  </a:cubicBezTo>
                  <a:lnTo>
                    <a:pt x="127000" y="2064893"/>
                  </a:lnTo>
                  <a:cubicBezTo>
                    <a:pt x="56896" y="2064893"/>
                    <a:pt x="0" y="2007997"/>
                    <a:pt x="0" y="1937893"/>
                  </a:cubicBezTo>
                  <a:close/>
                </a:path>
              </a:pathLst>
            </a:custGeom>
            <a:solidFill>
              <a:srgbClr val="0D1B35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960603" y="5092703"/>
            <a:ext cx="229235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Noise point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960603" y="5511803"/>
            <a:ext cx="2292353" cy="771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2"/>
              </a:lnSpc>
            </a:pPr>
            <a:r>
              <a:rPr lang="en-US" sz="1800">
                <a:solidFill>
                  <a:srgbClr val="FFFFFF">
                    <a:alpha val="6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No alcanza ningún cluster → outlier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9803" y="1082678"/>
            <a:ext cx="7974806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Fundamentos matemáticos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190750"/>
            <a:ext cx="8058150" cy="1714500"/>
            <a:chOff x="0" y="0"/>
            <a:chExt cx="107442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442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10744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566400" y="0"/>
                  </a:lnTo>
                  <a:cubicBezTo>
                    <a:pt x="10664571" y="0"/>
                    <a:pt x="10744200" y="79629"/>
                    <a:pt x="10744200" y="177800"/>
                  </a:cubicBezTo>
                  <a:lnTo>
                    <a:pt x="10744200" y="2108200"/>
                  </a:lnTo>
                  <a:cubicBezTo>
                    <a:pt x="10744200" y="2206371"/>
                    <a:pt x="10664571" y="2286000"/>
                    <a:pt x="10566400" y="2286000"/>
                  </a:cubicBezTo>
                  <a:lnTo>
                    <a:pt x="177800" y="2286000"/>
                  </a:lnTo>
                  <a:cubicBezTo>
                    <a:pt x="79629" y="2286000"/>
                    <a:pt x="0" y="2206371"/>
                    <a:pt x="0" y="210820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2190750"/>
            <a:ext cx="38100" cy="1714500"/>
            <a:chOff x="0" y="0"/>
            <a:chExt cx="50800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50800">
                  <a:moveTo>
                    <a:pt x="0" y="0"/>
                  </a:moveTo>
                  <a:lnTo>
                    <a:pt x="50800" y="0"/>
                  </a:lnTo>
                  <a:lnTo>
                    <a:pt x="50800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82703" y="2463803"/>
            <a:ext cx="758196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VECINDAD Ε (EPS)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57300" y="2914650"/>
            <a:ext cx="7410450" cy="723900"/>
            <a:chOff x="0" y="0"/>
            <a:chExt cx="9880600" cy="965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80600" cy="965200"/>
            </a:xfrm>
            <a:custGeom>
              <a:avLst/>
              <a:gdLst/>
              <a:ahLst/>
              <a:cxnLst/>
              <a:rect r="r" b="b" t="t" l="l"/>
              <a:pathLst>
                <a:path h="965200" w="98806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9753600" y="0"/>
                  </a:lnTo>
                  <a:cubicBezTo>
                    <a:pt x="9823704" y="0"/>
                    <a:pt x="9880600" y="56896"/>
                    <a:pt x="9880600" y="127000"/>
                  </a:cubicBezTo>
                  <a:lnTo>
                    <a:pt x="9880600" y="838200"/>
                  </a:lnTo>
                  <a:cubicBezTo>
                    <a:pt x="9880600" y="908304"/>
                    <a:pt x="9823704" y="965200"/>
                    <a:pt x="9753600" y="965200"/>
                  </a:cubicBezTo>
                  <a:lnTo>
                    <a:pt x="127000" y="965200"/>
                  </a:lnTo>
                  <a:cubicBezTo>
                    <a:pt x="56896" y="965200"/>
                    <a:pt x="0" y="908304"/>
                    <a:pt x="0" y="838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939956" y="3082928"/>
            <a:ext cx="404514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Nε(p) = { q ∈ D | d(p, q) ≤ ε }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4057650"/>
            <a:ext cx="8058150" cy="1751628"/>
            <a:chOff x="0" y="0"/>
            <a:chExt cx="10744200" cy="23355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744200" cy="2335530"/>
            </a:xfrm>
            <a:custGeom>
              <a:avLst/>
              <a:gdLst/>
              <a:ahLst/>
              <a:cxnLst/>
              <a:rect r="r" b="b" t="t" l="l"/>
              <a:pathLst>
                <a:path h="2335530" w="10744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566400" y="0"/>
                  </a:lnTo>
                  <a:cubicBezTo>
                    <a:pt x="10664571" y="0"/>
                    <a:pt x="10744200" y="79629"/>
                    <a:pt x="10744200" y="177800"/>
                  </a:cubicBezTo>
                  <a:lnTo>
                    <a:pt x="10744200" y="2157730"/>
                  </a:lnTo>
                  <a:cubicBezTo>
                    <a:pt x="10744200" y="2255901"/>
                    <a:pt x="10664571" y="2335530"/>
                    <a:pt x="10566400" y="2335530"/>
                  </a:cubicBezTo>
                  <a:lnTo>
                    <a:pt x="177800" y="2335530"/>
                  </a:lnTo>
                  <a:cubicBezTo>
                    <a:pt x="79629" y="2335530"/>
                    <a:pt x="0" y="2255901"/>
                    <a:pt x="0" y="215773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4057650"/>
            <a:ext cx="38100" cy="1751628"/>
            <a:chOff x="0" y="0"/>
            <a:chExt cx="50800" cy="23355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" cy="2335530"/>
            </a:xfrm>
            <a:custGeom>
              <a:avLst/>
              <a:gdLst/>
              <a:ahLst/>
              <a:cxnLst/>
              <a:rect r="r" b="b" t="t" l="l"/>
              <a:pathLst>
                <a:path h="2335530" w="50800">
                  <a:moveTo>
                    <a:pt x="0" y="0"/>
                  </a:moveTo>
                  <a:lnTo>
                    <a:pt x="50800" y="0"/>
                  </a:lnTo>
                  <a:lnTo>
                    <a:pt x="50800" y="2335530"/>
                  </a:lnTo>
                  <a:lnTo>
                    <a:pt x="0" y="233553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82703" y="4330703"/>
            <a:ext cx="758196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DISTANCIA EUCLIDIANA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57300" y="4781550"/>
            <a:ext cx="7410450" cy="761028"/>
            <a:chOff x="0" y="0"/>
            <a:chExt cx="9880600" cy="101470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880600" cy="1014730"/>
            </a:xfrm>
            <a:custGeom>
              <a:avLst/>
              <a:gdLst/>
              <a:ahLst/>
              <a:cxnLst/>
              <a:rect r="r" b="b" t="t" l="l"/>
              <a:pathLst>
                <a:path h="1014730" w="98806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9753600" y="0"/>
                  </a:lnTo>
                  <a:cubicBezTo>
                    <a:pt x="9823704" y="0"/>
                    <a:pt x="9880600" y="56896"/>
                    <a:pt x="9880600" y="127000"/>
                  </a:cubicBezTo>
                  <a:lnTo>
                    <a:pt x="9880600" y="887730"/>
                  </a:lnTo>
                  <a:cubicBezTo>
                    <a:pt x="9880600" y="957834"/>
                    <a:pt x="9823704" y="1014730"/>
                    <a:pt x="9753600" y="1014730"/>
                  </a:cubicBezTo>
                  <a:lnTo>
                    <a:pt x="127000" y="1014730"/>
                  </a:lnTo>
                  <a:cubicBezTo>
                    <a:pt x="56896" y="1014730"/>
                    <a:pt x="0" y="957834"/>
                    <a:pt x="0" y="8877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400146" y="4949828"/>
            <a:ext cx="712476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d(p, q) = √ Σ (pi − qi)²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5961678"/>
            <a:ext cx="8058150" cy="3996709"/>
            <a:chOff x="0" y="0"/>
            <a:chExt cx="10744200" cy="53289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44200" cy="5328920"/>
            </a:xfrm>
            <a:custGeom>
              <a:avLst/>
              <a:gdLst/>
              <a:ahLst/>
              <a:cxnLst/>
              <a:rect r="r" b="b" t="t" l="l"/>
              <a:pathLst>
                <a:path h="5328920" w="10744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566400" y="0"/>
                  </a:lnTo>
                  <a:cubicBezTo>
                    <a:pt x="10664571" y="0"/>
                    <a:pt x="10744200" y="79629"/>
                    <a:pt x="10744200" y="177800"/>
                  </a:cubicBezTo>
                  <a:lnTo>
                    <a:pt x="10744200" y="5151120"/>
                  </a:lnTo>
                  <a:cubicBezTo>
                    <a:pt x="10744200" y="5249291"/>
                    <a:pt x="10664571" y="5328920"/>
                    <a:pt x="10566400" y="5328920"/>
                  </a:cubicBezTo>
                  <a:lnTo>
                    <a:pt x="177800" y="5328920"/>
                  </a:lnTo>
                  <a:cubicBezTo>
                    <a:pt x="79629" y="5328920"/>
                    <a:pt x="0" y="5249291"/>
                    <a:pt x="0" y="515112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5961678"/>
            <a:ext cx="38100" cy="3996709"/>
            <a:chOff x="0" y="0"/>
            <a:chExt cx="50800" cy="532894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800" cy="5328920"/>
            </a:xfrm>
            <a:custGeom>
              <a:avLst/>
              <a:gdLst/>
              <a:ahLst/>
              <a:cxnLst/>
              <a:rect r="r" b="b" t="t" l="l"/>
              <a:pathLst>
                <a:path h="5328920" w="50800">
                  <a:moveTo>
                    <a:pt x="0" y="0"/>
                  </a:moveTo>
                  <a:lnTo>
                    <a:pt x="50800" y="0"/>
                  </a:lnTo>
                  <a:lnTo>
                    <a:pt x="50800" y="5328920"/>
                  </a:lnTo>
                  <a:lnTo>
                    <a:pt x="0" y="532892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82703" y="6234732"/>
            <a:ext cx="758196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DENSITY-REACHABLE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2703" y="6530007"/>
            <a:ext cx="7581967" cy="160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Existe cadena p₁, p₂, ..., pn donde cada pi+1 es </a:t>
            </a:r>
            <a:r>
              <a:rPr lang="en-US" sz="22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directamente alcanzable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desde pi (vecino y core point).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2703" y="8058769"/>
            <a:ext cx="7581967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El cluster = conjunto </a:t>
            </a:r>
            <a:r>
              <a:rPr lang="en-US" sz="22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maximal density-connected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2703" y="8796957"/>
            <a:ext cx="758196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55607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[1] Ester, Kriegel, Sander &amp; Xu, KDD-96.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15450" y="2190750"/>
            <a:ext cx="8058150" cy="7767638"/>
            <a:chOff x="0" y="0"/>
            <a:chExt cx="10744200" cy="103568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44200" cy="10356850"/>
            </a:xfrm>
            <a:custGeom>
              <a:avLst/>
              <a:gdLst/>
              <a:ahLst/>
              <a:cxnLst/>
              <a:rect r="r" b="b" t="t" l="l"/>
              <a:pathLst>
                <a:path h="10356850" w="10744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541000" y="0"/>
                  </a:lnTo>
                  <a:cubicBezTo>
                    <a:pt x="10653268" y="0"/>
                    <a:pt x="10744200" y="90932"/>
                    <a:pt x="10744200" y="203200"/>
                  </a:cubicBezTo>
                  <a:lnTo>
                    <a:pt x="10744200" y="10153650"/>
                  </a:lnTo>
                  <a:cubicBezTo>
                    <a:pt x="10744200" y="10265918"/>
                    <a:pt x="10653268" y="10356850"/>
                    <a:pt x="10541000" y="10356850"/>
                  </a:cubicBezTo>
                  <a:lnTo>
                    <a:pt x="203200" y="10356850"/>
                  </a:lnTo>
                  <a:cubicBezTo>
                    <a:pt x="90932" y="10356850"/>
                    <a:pt x="0" y="10265918"/>
                    <a:pt x="0" y="10153650"/>
                  </a:cubicBezTo>
                  <a:close/>
                </a:path>
              </a:pathLst>
            </a:custGeom>
            <a:solidFill>
              <a:srgbClr val="0F1E38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620250" y="2531269"/>
            <a:ext cx="114300" cy="114300"/>
            <a:chOff x="0" y="0"/>
            <a:chExt cx="152400" cy="152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5F57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810750" y="2531269"/>
            <a:ext cx="114300" cy="114300"/>
            <a:chOff x="0" y="0"/>
            <a:chExt cx="152400" cy="152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001250" y="2531269"/>
            <a:ext cx="114300" cy="114300"/>
            <a:chOff x="0" y="0"/>
            <a:chExt cx="152400" cy="152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8CA42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274303" y="2463803"/>
            <a:ext cx="269572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>
                    <a:alpha val="2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pseudocode — DBSCAN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45653" y="2773366"/>
            <a:ext cx="9340676" cy="732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DBSCAN(D, eps, MinPts):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 = 0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para cada punto p sin visitar de D: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N = regionQuery(p, eps)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si |N| &lt; MinPts: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 marcar p como ruido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sino: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 C = C + 1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 expandirCluster(p, N, C, eps, MinPts)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expandirCluster(p, N, C, eps, MinPts):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asignar p al cluster C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para cada p′ en N: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si p′ no visitado: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 N′ = regionQuery(p′, eps)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 si |N′| &gt;= MinPts: N = N ∪ N′</a:t>
            </a:r>
          </a:p>
          <a:p>
            <a:pPr algn="l">
              <a:lnSpc>
                <a:spcPts val="3298"/>
              </a:lnSpc>
            </a:pPr>
            <a:r>
              <a:rPr lang="en-US" sz="1570">
                <a:solidFill>
                  <a:srgbClr val="86EFA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si p′ sin cluster: asignar a C</a:t>
            </a:r>
          </a:p>
          <a:p>
            <a:pPr algn="l">
              <a:lnSpc>
                <a:spcPts val="308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9803" y="1082678"/>
            <a:ext cx="11011099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Ventajas, desventajas y cuándo usarlo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9803" y="2197103"/>
            <a:ext cx="82490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44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VENTAJAS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14400" y="2686050"/>
            <a:ext cx="8058150" cy="719138"/>
            <a:chOff x="0" y="0"/>
            <a:chExt cx="10744200" cy="9588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686050"/>
            <a:ext cx="28575" cy="719138"/>
            <a:chOff x="0" y="0"/>
            <a:chExt cx="38100" cy="9588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8878" y="2720978"/>
            <a:ext cx="78395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No requiere predefinir el número de clusters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3538538"/>
            <a:ext cx="8058150" cy="719138"/>
            <a:chOff x="0" y="0"/>
            <a:chExt cx="10744200" cy="9588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3538538"/>
            <a:ext cx="28575" cy="719138"/>
            <a:chOff x="0" y="0"/>
            <a:chExt cx="38100" cy="958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58878" y="3573466"/>
            <a:ext cx="78395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Encuentra clusters de forma arbitraria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14400" y="4391025"/>
            <a:ext cx="8058150" cy="719138"/>
            <a:chOff x="0" y="0"/>
            <a:chExt cx="10744200" cy="958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14400" y="4391025"/>
            <a:ext cx="28575" cy="719138"/>
            <a:chOff x="0" y="0"/>
            <a:chExt cx="38100" cy="9588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158878" y="4425953"/>
            <a:ext cx="78395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Detecta outliers de manera natural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5243512"/>
            <a:ext cx="8058150" cy="719138"/>
            <a:chOff x="0" y="0"/>
            <a:chExt cx="10744200" cy="9588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5243512"/>
            <a:ext cx="28575" cy="719138"/>
            <a:chOff x="0" y="0"/>
            <a:chExt cx="38100" cy="9588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58878" y="5278441"/>
            <a:ext cx="78395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Robusto al orden de presentación de los datos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6096000"/>
            <a:ext cx="8058150" cy="719138"/>
            <a:chOff x="0" y="0"/>
            <a:chExt cx="10744200" cy="95885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6096000"/>
            <a:ext cx="28575" cy="719138"/>
            <a:chOff x="0" y="0"/>
            <a:chExt cx="38100" cy="9588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158878" y="6130928"/>
            <a:ext cx="78395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Solo 2 hiperparámetros fáciles de interpretar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40853" y="2197103"/>
            <a:ext cx="824909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44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DESVENTAJAS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15450" y="2686050"/>
            <a:ext cx="8058150" cy="719138"/>
            <a:chOff x="0" y="0"/>
            <a:chExt cx="10744200" cy="9588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315450" y="2686050"/>
            <a:ext cx="28575" cy="719138"/>
            <a:chOff x="0" y="0"/>
            <a:chExt cx="38100" cy="95885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0D1B35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559928" y="2720978"/>
            <a:ext cx="78395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Sufre con clusters de densidades muy diferentes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315450" y="3538538"/>
            <a:ext cx="8058150" cy="719138"/>
            <a:chOff x="0" y="0"/>
            <a:chExt cx="10744200" cy="95885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315450" y="3538538"/>
            <a:ext cx="28575" cy="719138"/>
            <a:chOff x="0" y="0"/>
            <a:chExt cx="38100" cy="9588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0D1B35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559928" y="3573466"/>
            <a:ext cx="78395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Sensible a la elección de eps y min_samples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315450" y="4391025"/>
            <a:ext cx="8058150" cy="719138"/>
            <a:chOff x="0" y="0"/>
            <a:chExt cx="10744200" cy="95885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15450" y="4391025"/>
            <a:ext cx="28575" cy="719138"/>
            <a:chOff x="0" y="0"/>
            <a:chExt cx="38100" cy="95885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0D1B35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9563100" y="4289746"/>
            <a:ext cx="783952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Complejidad O(n²) crece con datasets grandes sin índices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315450" y="5243512"/>
            <a:ext cx="8058150" cy="1133475"/>
            <a:chOff x="0" y="0"/>
            <a:chExt cx="10744200" cy="15113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44200" cy="1511300"/>
            </a:xfrm>
            <a:custGeom>
              <a:avLst/>
              <a:gdLst/>
              <a:ahLst/>
              <a:cxnLst/>
              <a:rect r="r" b="b" t="t" l="l"/>
              <a:pathLst>
                <a:path h="151130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1384300"/>
                  </a:lnTo>
                  <a:cubicBezTo>
                    <a:pt x="10744200" y="1454404"/>
                    <a:pt x="10687304" y="1511300"/>
                    <a:pt x="10617200" y="1511300"/>
                  </a:cubicBezTo>
                  <a:lnTo>
                    <a:pt x="127000" y="1511300"/>
                  </a:lnTo>
                  <a:cubicBezTo>
                    <a:pt x="56896" y="1511300"/>
                    <a:pt x="0" y="1454404"/>
                    <a:pt x="0" y="13843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315450" y="5243512"/>
            <a:ext cx="28575" cy="1133475"/>
            <a:chOff x="0" y="0"/>
            <a:chExt cx="38100" cy="15113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8100" cy="1511300"/>
            </a:xfrm>
            <a:custGeom>
              <a:avLst/>
              <a:gdLst/>
              <a:ahLst/>
              <a:cxnLst/>
              <a:rect r="r" b="b" t="t" l="l"/>
              <a:pathLst>
                <a:path h="1511300" w="38100">
                  <a:moveTo>
                    <a:pt x="0" y="0"/>
                  </a:moveTo>
                  <a:lnTo>
                    <a:pt x="38100" y="0"/>
                  </a:lnTo>
                  <a:lnTo>
                    <a:pt x="38100" y="1511300"/>
                  </a:lnTo>
                  <a:lnTo>
                    <a:pt x="0" y="1511300"/>
                  </a:lnTo>
                  <a:close/>
                </a:path>
              </a:pathLst>
            </a:custGeom>
            <a:solidFill>
              <a:srgbClr val="0D1B35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9559928" y="5278441"/>
            <a:ext cx="783952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Maldición de la dimensionalidad: distancias dejan de discriminar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315450" y="6510338"/>
            <a:ext cx="8058150" cy="719138"/>
            <a:chOff x="0" y="0"/>
            <a:chExt cx="10744200" cy="95885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744200" cy="958850"/>
            </a:xfrm>
            <a:custGeom>
              <a:avLst/>
              <a:gdLst/>
              <a:ahLst/>
              <a:cxnLst/>
              <a:rect r="r" b="b" t="t" l="l"/>
              <a:pathLst>
                <a:path h="958850" w="107442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0617200" y="0"/>
                  </a:lnTo>
                  <a:cubicBezTo>
                    <a:pt x="10687304" y="0"/>
                    <a:pt x="10744200" y="56896"/>
                    <a:pt x="10744200" y="127000"/>
                  </a:cubicBezTo>
                  <a:lnTo>
                    <a:pt x="10744200" y="831850"/>
                  </a:lnTo>
                  <a:cubicBezTo>
                    <a:pt x="10744200" y="901954"/>
                    <a:pt x="10687304" y="958850"/>
                    <a:pt x="10617200" y="958850"/>
                  </a:cubicBezTo>
                  <a:lnTo>
                    <a:pt x="127000" y="958850"/>
                  </a:lnTo>
                  <a:cubicBezTo>
                    <a:pt x="56896" y="958850"/>
                    <a:pt x="0" y="901954"/>
                    <a:pt x="0" y="8318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315450" y="6510338"/>
            <a:ext cx="28575" cy="719138"/>
            <a:chOff x="0" y="0"/>
            <a:chExt cx="38100" cy="95885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100" cy="958850"/>
            </a:xfrm>
            <a:custGeom>
              <a:avLst/>
              <a:gdLst/>
              <a:ahLst/>
              <a:cxnLst/>
              <a:rect r="r" b="b" t="t" l="l"/>
              <a:pathLst>
                <a:path h="958850" w="38100">
                  <a:moveTo>
                    <a:pt x="0" y="0"/>
                  </a:moveTo>
                  <a:lnTo>
                    <a:pt x="38100" y="0"/>
                  </a:lnTo>
                  <a:lnTo>
                    <a:pt x="38100" y="958850"/>
                  </a:lnTo>
                  <a:lnTo>
                    <a:pt x="0" y="958850"/>
                  </a:lnTo>
                  <a:close/>
                </a:path>
              </a:pathLst>
            </a:custGeom>
            <a:solidFill>
              <a:srgbClr val="0D1B35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9559928" y="6545266"/>
            <a:ext cx="783952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La estandarización de variables es obligatoria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14400" y="8486775"/>
            <a:ext cx="16459200" cy="1228725"/>
            <a:chOff x="0" y="0"/>
            <a:chExt cx="21945600" cy="16383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219456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1793200" y="0"/>
                  </a:lnTo>
                  <a:cubicBezTo>
                    <a:pt x="21877401" y="0"/>
                    <a:pt x="21945600" y="68199"/>
                    <a:pt x="21945600" y="152400"/>
                  </a:cubicBezTo>
                  <a:lnTo>
                    <a:pt x="21945600" y="1485900"/>
                  </a:lnTo>
                  <a:cubicBezTo>
                    <a:pt x="21945600" y="1570101"/>
                    <a:pt x="21877401" y="1638300"/>
                    <a:pt x="21793200" y="1638300"/>
                  </a:cubicBezTo>
                  <a:lnTo>
                    <a:pt x="152400" y="1638300"/>
                  </a:lnTo>
                  <a:cubicBezTo>
                    <a:pt x="68199" y="1638300"/>
                    <a:pt x="0" y="1570101"/>
                    <a:pt x="0" y="148590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8486775"/>
            <a:ext cx="38100" cy="1228725"/>
            <a:chOff x="0" y="0"/>
            <a:chExt cx="50800" cy="163830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0800" cy="1638300"/>
            </a:xfrm>
            <a:custGeom>
              <a:avLst/>
              <a:gdLst/>
              <a:ahLst/>
              <a:cxnLst/>
              <a:rect r="r" b="b" t="t" l="l"/>
              <a:pathLst>
                <a:path h="16383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638300"/>
                  </a:lnTo>
                  <a:lnTo>
                    <a:pt x="0" y="16383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1244603" y="8683628"/>
            <a:ext cx="1631353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¿CUÁNDO USARLO?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244603" y="8969378"/>
            <a:ext cx="1631353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Datos espaciales con clusters de forma irregular, detección de anomalías, segmentación sin K conocido. [3]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9803" y="1082678"/>
            <a:ext cx="962064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Implementación manual -NumPy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2190750"/>
            <a:ext cx="8058150" cy="7767638"/>
            <a:chOff x="0" y="0"/>
            <a:chExt cx="10744200" cy="103568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44200" cy="10356850"/>
            </a:xfrm>
            <a:custGeom>
              <a:avLst/>
              <a:gdLst/>
              <a:ahLst/>
              <a:cxnLst/>
              <a:rect r="r" b="b" t="t" l="l"/>
              <a:pathLst>
                <a:path h="10356850" w="10744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541000" y="0"/>
                  </a:lnTo>
                  <a:cubicBezTo>
                    <a:pt x="10653268" y="0"/>
                    <a:pt x="10744200" y="90932"/>
                    <a:pt x="10744200" y="203200"/>
                  </a:cubicBezTo>
                  <a:lnTo>
                    <a:pt x="10744200" y="10153650"/>
                  </a:lnTo>
                  <a:cubicBezTo>
                    <a:pt x="10744200" y="10265918"/>
                    <a:pt x="10653268" y="10356850"/>
                    <a:pt x="10541000" y="10356850"/>
                  </a:cubicBezTo>
                  <a:lnTo>
                    <a:pt x="203200" y="10356850"/>
                  </a:lnTo>
                  <a:cubicBezTo>
                    <a:pt x="90932" y="10356850"/>
                    <a:pt x="0" y="10265918"/>
                    <a:pt x="0" y="10153650"/>
                  </a:cubicBezTo>
                  <a:close/>
                </a:path>
              </a:pathLst>
            </a:custGeom>
            <a:solidFill>
              <a:srgbClr val="0F1E38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9200" y="2531269"/>
            <a:ext cx="114300" cy="114300"/>
            <a:chOff x="0" y="0"/>
            <a:chExt cx="152400" cy="15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5F5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09700" y="2531269"/>
            <a:ext cx="114300" cy="114300"/>
            <a:chOff x="0" y="0"/>
            <a:chExt cx="152400" cy="152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BD2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00200" y="2531269"/>
            <a:ext cx="114300" cy="114300"/>
            <a:chOff x="0" y="0"/>
            <a:chExt cx="152400" cy="152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4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cubicBezTo>
                    <a:pt x="118237" y="0"/>
                    <a:pt x="152400" y="34163"/>
                    <a:pt x="152400" y="76200"/>
                  </a:cubicBezTo>
                  <a:cubicBezTo>
                    <a:pt x="152400" y="118237"/>
                    <a:pt x="118237" y="152400"/>
                    <a:pt x="76200" y="152400"/>
                  </a:cubicBez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8CA4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73253" y="2463803"/>
            <a:ext cx="226017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>
                    <a:alpha val="29804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dbscan_manual.py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4603" y="2773366"/>
            <a:ext cx="8909888" cy="7185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def region_query(X, p, eps):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d = np.sqrt(((X - X[p])**2).sum(1))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return np.where(d &lt;= eps)[0]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def dbscan_manual(X, eps, min_samples):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n = X.shape[0]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labels = np.zeros(n, dtype=int)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cid = 0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for i in range(n):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if labels[i] != 0: continue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N = region_query(X, i, eps)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if len(N) &lt; min_samples: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   labels[i] = -1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else: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   cid += 1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        expand(X, labels, i, N, cid, eps, min_samples)</a:t>
            </a:r>
          </a:p>
          <a:p>
            <a:pPr algn="l">
              <a:lnSpc>
                <a:spcPts val="3191"/>
              </a:lnSpc>
            </a:pPr>
            <a:r>
              <a:rPr lang="en-US" sz="1519">
                <a:solidFill>
                  <a:srgbClr val="7DD3FC">
                    <a:alpha val="8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   return np.where(labels == -1, -1, labels - 1)</a:t>
            </a:r>
          </a:p>
          <a:p>
            <a:pPr algn="l">
              <a:lnSpc>
                <a:spcPts val="3191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9446805" y="2190750"/>
            <a:ext cx="8058150" cy="6448425"/>
            <a:chOff x="0" y="0"/>
            <a:chExt cx="10744200" cy="85979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44200" cy="8597900"/>
            </a:xfrm>
            <a:custGeom>
              <a:avLst/>
              <a:gdLst/>
              <a:ahLst/>
              <a:cxnLst/>
              <a:rect r="r" b="b" t="t" l="l"/>
              <a:pathLst>
                <a:path h="8597900" w="10744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566400" y="0"/>
                  </a:lnTo>
                  <a:cubicBezTo>
                    <a:pt x="10664571" y="0"/>
                    <a:pt x="10744200" y="79629"/>
                    <a:pt x="10744200" y="177800"/>
                  </a:cubicBezTo>
                  <a:lnTo>
                    <a:pt x="10744200" y="8420100"/>
                  </a:lnTo>
                  <a:cubicBezTo>
                    <a:pt x="10744200" y="8518271"/>
                    <a:pt x="10664571" y="8597900"/>
                    <a:pt x="10566400" y="8597900"/>
                  </a:cubicBezTo>
                  <a:lnTo>
                    <a:pt x="177800" y="8597900"/>
                  </a:lnTo>
                  <a:cubicBezTo>
                    <a:pt x="79629" y="8597900"/>
                    <a:pt x="0" y="8518271"/>
                    <a:pt x="0" y="842010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15450" y="2190750"/>
            <a:ext cx="38100" cy="6448425"/>
            <a:chOff x="0" y="0"/>
            <a:chExt cx="50800" cy="85979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" cy="8597900"/>
            </a:xfrm>
            <a:custGeom>
              <a:avLst/>
              <a:gdLst/>
              <a:ahLst/>
              <a:cxnLst/>
              <a:rect r="r" b="b" t="t" l="l"/>
              <a:pathLst>
                <a:path h="8597900" w="50800">
                  <a:moveTo>
                    <a:pt x="0" y="0"/>
                  </a:moveTo>
                  <a:lnTo>
                    <a:pt x="50800" y="0"/>
                  </a:lnTo>
                  <a:lnTo>
                    <a:pt x="50800" y="8597900"/>
                  </a:lnTo>
                  <a:lnTo>
                    <a:pt x="0" y="85979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645653" y="2425703"/>
            <a:ext cx="766045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IDEA CLAVE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315450" y="8772525"/>
            <a:ext cx="8058150" cy="1185862"/>
            <a:chOff x="0" y="0"/>
            <a:chExt cx="10744200" cy="158115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44200" cy="1581150"/>
            </a:xfrm>
            <a:custGeom>
              <a:avLst/>
              <a:gdLst/>
              <a:ahLst/>
              <a:cxnLst/>
              <a:rect r="r" b="b" t="t" l="l"/>
              <a:pathLst>
                <a:path h="1581150" w="107442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0591800" y="0"/>
                  </a:lnTo>
                  <a:cubicBezTo>
                    <a:pt x="10676001" y="0"/>
                    <a:pt x="10744200" y="68199"/>
                    <a:pt x="10744200" y="152400"/>
                  </a:cubicBezTo>
                  <a:lnTo>
                    <a:pt x="10744200" y="1428750"/>
                  </a:lnTo>
                  <a:cubicBezTo>
                    <a:pt x="10744200" y="1512951"/>
                    <a:pt x="10676001" y="1581150"/>
                    <a:pt x="10591800" y="1581150"/>
                  </a:cubicBezTo>
                  <a:lnTo>
                    <a:pt x="152400" y="1581150"/>
                  </a:lnTo>
                  <a:cubicBezTo>
                    <a:pt x="68199" y="1581150"/>
                    <a:pt x="0" y="1512951"/>
                    <a:pt x="0" y="1428750"/>
                  </a:cubicBezTo>
                  <a:close/>
                </a:path>
              </a:pathLst>
            </a:custGeom>
            <a:solidFill>
              <a:srgbClr val="0D1B3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559928" y="2720978"/>
            <a:ext cx="7839523" cy="246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3915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region_query: distancias vectorizadas con NumPy.</a:t>
            </a:r>
          </a:p>
          <a:p>
            <a:pPr algn="l" marL="485775" indent="-242888" lvl="1">
              <a:lnSpc>
                <a:spcPts val="3915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Etiquetas: 0 = no visitado, -1 = ruido.</a:t>
            </a:r>
          </a:p>
          <a:p>
            <a:pPr algn="l" marL="485775" indent="-242888" lvl="1">
              <a:lnSpc>
                <a:spcPts val="3915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expand_cluster: BFS sobre vecinos del core.</a:t>
            </a:r>
          </a:p>
          <a:p>
            <a:pPr algn="l" marL="485775" indent="-242888" lvl="1">
              <a:lnSpc>
                <a:spcPts val="3915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Sin sklearn: solo NumPy y Pandas.</a:t>
            </a:r>
          </a:p>
          <a:p>
            <a:pPr algn="l">
              <a:lnSpc>
                <a:spcPts val="391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21222" y="1909934"/>
            <a:ext cx="6817783" cy="2001814"/>
            <a:chOff x="0" y="0"/>
            <a:chExt cx="10218686" cy="30003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18686" cy="3000375"/>
            </a:xfrm>
            <a:custGeom>
              <a:avLst/>
              <a:gdLst/>
              <a:ahLst/>
              <a:cxnLst/>
              <a:rect r="r" b="b" t="t" l="l"/>
              <a:pathLst>
                <a:path h="3000375" w="10218686">
                  <a:moveTo>
                    <a:pt x="0" y="86549"/>
                  </a:moveTo>
                  <a:cubicBezTo>
                    <a:pt x="0" y="38731"/>
                    <a:pt x="171482" y="0"/>
                    <a:pt x="383201" y="0"/>
                  </a:cubicBezTo>
                  <a:lnTo>
                    <a:pt x="9835485" y="0"/>
                  </a:lnTo>
                  <a:cubicBezTo>
                    <a:pt x="10047204" y="0"/>
                    <a:pt x="10218686" y="38731"/>
                    <a:pt x="10218686" y="86549"/>
                  </a:cubicBezTo>
                  <a:lnTo>
                    <a:pt x="10218686" y="2913826"/>
                  </a:lnTo>
                  <a:cubicBezTo>
                    <a:pt x="10218686" y="2961644"/>
                    <a:pt x="10047204" y="3000375"/>
                    <a:pt x="9835485" y="3000375"/>
                  </a:cubicBezTo>
                  <a:lnTo>
                    <a:pt x="383201" y="3000375"/>
                  </a:lnTo>
                  <a:cubicBezTo>
                    <a:pt x="171482" y="3000375"/>
                    <a:pt x="0" y="2961644"/>
                    <a:pt x="0" y="29138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21222" y="1909934"/>
            <a:ext cx="75235" cy="3524887"/>
            <a:chOff x="0" y="0"/>
            <a:chExt cx="112765" cy="5283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765" cy="5283200"/>
            </a:xfrm>
            <a:custGeom>
              <a:avLst/>
              <a:gdLst/>
              <a:ahLst/>
              <a:cxnLst/>
              <a:rect r="r" b="b" t="t" l="l"/>
              <a:pathLst>
                <a:path h="5283200" w="112765">
                  <a:moveTo>
                    <a:pt x="0" y="0"/>
                  </a:moveTo>
                  <a:lnTo>
                    <a:pt x="112765" y="0"/>
                  </a:lnTo>
                  <a:lnTo>
                    <a:pt x="112765" y="5283200"/>
                  </a:lnTo>
                  <a:lnTo>
                    <a:pt x="0" y="5283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82085" y="1909934"/>
            <a:ext cx="56919" cy="3524887"/>
            <a:chOff x="0" y="0"/>
            <a:chExt cx="85312" cy="5283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312" cy="5283200"/>
            </a:xfrm>
            <a:custGeom>
              <a:avLst/>
              <a:gdLst/>
              <a:ahLst/>
              <a:cxnLst/>
              <a:rect r="r" b="b" t="t" l="l"/>
              <a:pathLst>
                <a:path h="5283200" w="85312">
                  <a:moveTo>
                    <a:pt x="0" y="0"/>
                  </a:moveTo>
                  <a:lnTo>
                    <a:pt x="85312" y="0"/>
                  </a:lnTo>
                  <a:lnTo>
                    <a:pt x="85312" y="5283200"/>
                  </a:lnTo>
                  <a:lnTo>
                    <a:pt x="0" y="52832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939005" y="1829438"/>
            <a:ext cx="6164405" cy="2082310"/>
            <a:chOff x="0" y="0"/>
            <a:chExt cx="9239384" cy="31210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39384" cy="3121025"/>
            </a:xfrm>
            <a:custGeom>
              <a:avLst/>
              <a:gdLst/>
              <a:ahLst/>
              <a:cxnLst/>
              <a:rect r="r" b="b" t="t" l="l"/>
              <a:pathLst>
                <a:path h="3121025" w="9239384">
                  <a:moveTo>
                    <a:pt x="0" y="100950"/>
                  </a:moveTo>
                  <a:cubicBezTo>
                    <a:pt x="0" y="45175"/>
                    <a:pt x="155048" y="0"/>
                    <a:pt x="346477" y="0"/>
                  </a:cubicBezTo>
                  <a:lnTo>
                    <a:pt x="8892908" y="0"/>
                  </a:lnTo>
                  <a:cubicBezTo>
                    <a:pt x="9084336" y="0"/>
                    <a:pt x="9239384" y="45175"/>
                    <a:pt x="9239384" y="100950"/>
                  </a:cubicBezTo>
                  <a:lnTo>
                    <a:pt x="9239384" y="3020075"/>
                  </a:lnTo>
                  <a:cubicBezTo>
                    <a:pt x="9239384" y="3075850"/>
                    <a:pt x="9084336" y="3121025"/>
                    <a:pt x="8892908" y="3121025"/>
                  </a:cubicBezTo>
                  <a:lnTo>
                    <a:pt x="346477" y="3121025"/>
                  </a:lnTo>
                  <a:cubicBezTo>
                    <a:pt x="155048" y="3121025"/>
                    <a:pt x="0" y="3075850"/>
                    <a:pt x="0" y="302007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325600" y="6305550"/>
            <a:ext cx="3048000" cy="14288"/>
            <a:chOff x="0" y="0"/>
            <a:chExt cx="40640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0" cy="19050"/>
            </a:xfrm>
            <a:custGeom>
              <a:avLst/>
              <a:gdLst/>
              <a:ahLst/>
              <a:cxnLst/>
              <a:rect r="r" b="b" t="t" l="l"/>
              <a:pathLst>
                <a:path h="1905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880301" y="2333599"/>
            <a:ext cx="106631" cy="3146638"/>
            <a:chOff x="0" y="0"/>
            <a:chExt cx="159667" cy="4711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9667" cy="4711700"/>
            </a:xfrm>
            <a:custGeom>
              <a:avLst/>
              <a:gdLst/>
              <a:ahLst/>
              <a:cxnLst/>
              <a:rect r="r" b="b" t="t" l="l"/>
              <a:pathLst>
                <a:path h="4711700" w="159667">
                  <a:moveTo>
                    <a:pt x="0" y="0"/>
                  </a:moveTo>
                  <a:lnTo>
                    <a:pt x="159667" y="0"/>
                  </a:lnTo>
                  <a:lnTo>
                    <a:pt x="159667" y="4711700"/>
                  </a:lnTo>
                  <a:lnTo>
                    <a:pt x="0" y="47117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315428" y="2339954"/>
            <a:ext cx="106528" cy="3143589"/>
            <a:chOff x="0" y="0"/>
            <a:chExt cx="159667" cy="4711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667" cy="4711700"/>
            </a:xfrm>
            <a:custGeom>
              <a:avLst/>
              <a:gdLst/>
              <a:ahLst/>
              <a:cxnLst/>
              <a:rect r="r" b="b" t="t" l="l"/>
              <a:pathLst>
                <a:path h="4711700" w="159667">
                  <a:moveTo>
                    <a:pt x="0" y="0"/>
                  </a:moveTo>
                  <a:lnTo>
                    <a:pt x="159667" y="0"/>
                  </a:lnTo>
                  <a:lnTo>
                    <a:pt x="159667" y="4711700"/>
                  </a:lnTo>
                  <a:lnTo>
                    <a:pt x="0" y="4711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048908" y="4030899"/>
            <a:ext cx="13300734" cy="5426403"/>
          </a:xfrm>
          <a:custGeom>
            <a:avLst/>
            <a:gdLst/>
            <a:ahLst/>
            <a:cxnLst/>
            <a:rect r="r" b="b" t="t" l="l"/>
            <a:pathLst>
              <a:path h="5426403" w="13300734">
                <a:moveTo>
                  <a:pt x="0" y="0"/>
                </a:moveTo>
                <a:lnTo>
                  <a:pt x="13300734" y="0"/>
                </a:lnTo>
                <a:lnTo>
                  <a:pt x="13300734" y="5426403"/>
                </a:lnTo>
                <a:lnTo>
                  <a:pt x="0" y="54264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635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631506" y="3911748"/>
            <a:ext cx="3656494" cy="3584258"/>
            <a:chOff x="0" y="0"/>
            <a:chExt cx="3221480" cy="315783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21480" cy="3157759"/>
            </a:xfrm>
            <a:custGeom>
              <a:avLst/>
              <a:gdLst/>
              <a:ahLst/>
              <a:cxnLst/>
              <a:rect r="r" b="b" t="t" l="l"/>
              <a:pathLst>
                <a:path h="3157759" w="3221480">
                  <a:moveTo>
                    <a:pt x="0" y="194216"/>
                  </a:moveTo>
                  <a:cubicBezTo>
                    <a:pt x="0" y="87009"/>
                    <a:pt x="52672" y="0"/>
                    <a:pt x="117572" y="0"/>
                  </a:cubicBezTo>
                  <a:lnTo>
                    <a:pt x="3103907" y="0"/>
                  </a:lnTo>
                  <a:cubicBezTo>
                    <a:pt x="3168807" y="0"/>
                    <a:pt x="3221480" y="87009"/>
                    <a:pt x="3221480" y="194216"/>
                  </a:cubicBezTo>
                  <a:lnTo>
                    <a:pt x="3221480" y="2963543"/>
                  </a:lnTo>
                  <a:cubicBezTo>
                    <a:pt x="3221480" y="3070750"/>
                    <a:pt x="3168807" y="3157759"/>
                    <a:pt x="3103907" y="3157759"/>
                  </a:cubicBezTo>
                  <a:lnTo>
                    <a:pt x="117572" y="3157759"/>
                  </a:lnTo>
                  <a:cubicBezTo>
                    <a:pt x="52672" y="3157759"/>
                    <a:pt x="0" y="3070750"/>
                    <a:pt x="0" y="2963543"/>
                  </a:cubicBezTo>
                  <a:lnTo>
                    <a:pt x="0" y="194216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39803" y="1082678"/>
            <a:ext cx="880340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Visualización: Forma Arbitraria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74600" y="2129551"/>
            <a:ext cx="5734757" cy="25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b="true" sz="1601" spc="192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K-MEANS FALLA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74600" y="2457966"/>
            <a:ext cx="5734757" cy="122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82"/>
              </a:lnSpc>
            </a:pPr>
            <a:r>
              <a:rPr lang="en-US" sz="1823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Asume clusters esféricos: corta las dos lunas por la mitad, agrupando puntos que no pertenecen al mismo cluster.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315389" y="2129551"/>
            <a:ext cx="5734757" cy="25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b="true" sz="1601" spc="192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DBSCAN ACIERTA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428622" y="2485156"/>
            <a:ext cx="5185170" cy="120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2"/>
              </a:lnSpc>
            </a:pPr>
            <a:r>
              <a:rPr lang="en-US" sz="1779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Sigue la densidad y reconstruye correctamente las dos lunas, respetando su forma arbitraria.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060113" y="4530688"/>
            <a:ext cx="3307346" cy="221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175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</a:t>
            </a:r>
          </a:p>
          <a:p>
            <a:pPr algn="l">
              <a:lnSpc>
                <a:spcPts val="2848"/>
              </a:lnSpc>
            </a:pPr>
            <a:r>
              <a:rPr lang="en-US" sz="15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220</a:t>
            </a:r>
            <a:r>
              <a:rPr lang="en-US" sz="15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puntos | eps=0.20 | min_samples=5</a:t>
            </a:r>
          </a:p>
          <a:p>
            <a:pPr algn="l">
              <a:lnSpc>
                <a:spcPts val="2848"/>
              </a:lnSpc>
            </a:pPr>
            <a:r>
              <a:rPr lang="en-US" sz="15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 clusters detectados, 0 ruido</a:t>
            </a:r>
          </a:p>
          <a:p>
            <a:pPr algn="l">
              <a:lnSpc>
                <a:spcPts val="2848"/>
              </a:lnSpc>
            </a:pPr>
            <a:r>
              <a:rPr lang="en-US" sz="158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Silhouette = 0.328</a:t>
            </a:r>
          </a:p>
          <a:p>
            <a:pPr algn="l">
              <a:lnSpc>
                <a:spcPts val="3156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2190750"/>
            <a:ext cx="8058150" cy="3709988"/>
            <a:chOff x="0" y="0"/>
            <a:chExt cx="10744200" cy="49466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44200" cy="4946650"/>
            </a:xfrm>
            <a:custGeom>
              <a:avLst/>
              <a:gdLst/>
              <a:ahLst/>
              <a:cxnLst/>
              <a:rect r="r" b="b" t="t" l="l"/>
              <a:pathLst>
                <a:path h="4946650" w="107442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0566400" y="0"/>
                  </a:lnTo>
                  <a:cubicBezTo>
                    <a:pt x="10664571" y="0"/>
                    <a:pt x="10744200" y="79629"/>
                    <a:pt x="10744200" y="177800"/>
                  </a:cubicBezTo>
                  <a:lnTo>
                    <a:pt x="10744200" y="4768850"/>
                  </a:lnTo>
                  <a:cubicBezTo>
                    <a:pt x="10744200" y="4867021"/>
                    <a:pt x="10664571" y="4946650"/>
                    <a:pt x="10566400" y="4946650"/>
                  </a:cubicBezTo>
                  <a:lnTo>
                    <a:pt x="177800" y="4946650"/>
                  </a:lnTo>
                  <a:cubicBezTo>
                    <a:pt x="79629" y="4946650"/>
                    <a:pt x="0" y="4867021"/>
                    <a:pt x="0" y="476885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190750"/>
            <a:ext cx="38100" cy="3709988"/>
            <a:chOff x="0" y="0"/>
            <a:chExt cx="50800" cy="4946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800" cy="4946650"/>
            </a:xfrm>
            <a:custGeom>
              <a:avLst/>
              <a:gdLst/>
              <a:ahLst/>
              <a:cxnLst/>
              <a:rect r="r" b="b" t="t" l="l"/>
              <a:pathLst>
                <a:path h="4946650" w="50800">
                  <a:moveTo>
                    <a:pt x="0" y="0"/>
                  </a:moveTo>
                  <a:lnTo>
                    <a:pt x="50800" y="0"/>
                  </a:lnTo>
                  <a:lnTo>
                    <a:pt x="50800" y="4946650"/>
                  </a:lnTo>
                  <a:lnTo>
                    <a:pt x="0" y="494665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6804031"/>
            <a:ext cx="15205515" cy="2911469"/>
            <a:chOff x="0" y="0"/>
            <a:chExt cx="20274019" cy="38819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74020" cy="3881958"/>
            </a:xfrm>
            <a:custGeom>
              <a:avLst/>
              <a:gdLst/>
              <a:ahLst/>
              <a:cxnLst/>
              <a:rect r="r" b="b" t="t" l="l"/>
              <a:pathLst>
                <a:path h="3881958" w="20274020">
                  <a:moveTo>
                    <a:pt x="0" y="121153"/>
                  </a:moveTo>
                  <a:cubicBezTo>
                    <a:pt x="0" y="54216"/>
                    <a:pt x="128690" y="0"/>
                    <a:pt x="287575" y="0"/>
                  </a:cubicBezTo>
                  <a:lnTo>
                    <a:pt x="19986445" y="0"/>
                  </a:lnTo>
                  <a:cubicBezTo>
                    <a:pt x="20145330" y="0"/>
                    <a:pt x="20274020" y="54216"/>
                    <a:pt x="20274020" y="121153"/>
                  </a:cubicBezTo>
                  <a:lnTo>
                    <a:pt x="20274020" y="3760805"/>
                  </a:lnTo>
                  <a:cubicBezTo>
                    <a:pt x="20274020" y="3827742"/>
                    <a:pt x="20145330" y="3881958"/>
                    <a:pt x="19986445" y="3881958"/>
                  </a:cubicBezTo>
                  <a:lnTo>
                    <a:pt x="287575" y="3881958"/>
                  </a:lnTo>
                  <a:cubicBezTo>
                    <a:pt x="128690" y="3881958"/>
                    <a:pt x="0" y="3827742"/>
                    <a:pt x="0" y="37608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9701212"/>
            <a:ext cx="8058150" cy="14288"/>
            <a:chOff x="0" y="0"/>
            <a:chExt cx="10744200" cy="190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44200" cy="19050"/>
            </a:xfrm>
            <a:custGeom>
              <a:avLst/>
              <a:gdLst/>
              <a:ahLst/>
              <a:cxnLst/>
              <a:rect r="r" b="b" t="t" l="l"/>
              <a:pathLst>
                <a:path h="19050" w="10744200">
                  <a:moveTo>
                    <a:pt x="0" y="0"/>
                  </a:moveTo>
                  <a:lnTo>
                    <a:pt x="10744200" y="0"/>
                  </a:lnTo>
                  <a:lnTo>
                    <a:pt x="10744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6053138"/>
            <a:ext cx="8058150" cy="14288"/>
            <a:chOff x="0" y="0"/>
            <a:chExt cx="10744200" cy="190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44200" cy="19050"/>
            </a:xfrm>
            <a:custGeom>
              <a:avLst/>
              <a:gdLst/>
              <a:ahLst/>
              <a:cxnLst/>
              <a:rect r="r" b="b" t="t" l="l"/>
              <a:pathLst>
                <a:path h="19050" w="10744200">
                  <a:moveTo>
                    <a:pt x="0" y="0"/>
                  </a:moveTo>
                  <a:lnTo>
                    <a:pt x="10744200" y="0"/>
                  </a:lnTo>
                  <a:lnTo>
                    <a:pt x="107442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6053138"/>
            <a:ext cx="38100" cy="3662362"/>
            <a:chOff x="0" y="0"/>
            <a:chExt cx="50800" cy="48831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800" cy="4883150"/>
            </a:xfrm>
            <a:custGeom>
              <a:avLst/>
              <a:gdLst/>
              <a:ahLst/>
              <a:cxnLst/>
              <a:rect r="r" b="b" t="t" l="l"/>
              <a:pathLst>
                <a:path h="4883150" w="50800">
                  <a:moveTo>
                    <a:pt x="0" y="0"/>
                  </a:moveTo>
                  <a:lnTo>
                    <a:pt x="50800" y="0"/>
                  </a:lnTo>
                  <a:lnTo>
                    <a:pt x="50800" y="4883150"/>
                  </a:lnTo>
                  <a:lnTo>
                    <a:pt x="0" y="488315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972550" y="6067425"/>
            <a:ext cx="14288" cy="3662362"/>
            <a:chOff x="0" y="0"/>
            <a:chExt cx="19050" cy="48831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" cy="4883150"/>
            </a:xfrm>
            <a:custGeom>
              <a:avLst/>
              <a:gdLst/>
              <a:ahLst/>
              <a:cxnLst/>
              <a:rect r="r" b="b" t="t" l="l"/>
              <a:pathLst>
                <a:path h="4883150" w="19050">
                  <a:moveTo>
                    <a:pt x="0" y="0"/>
                  </a:moveTo>
                  <a:lnTo>
                    <a:pt x="19050" y="0"/>
                  </a:lnTo>
                  <a:lnTo>
                    <a:pt x="19050" y="4883150"/>
                  </a:lnTo>
                  <a:lnTo>
                    <a:pt x="0" y="488315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315450" y="2190750"/>
            <a:ext cx="3218947" cy="688245"/>
            <a:chOff x="0" y="0"/>
            <a:chExt cx="4056164" cy="8672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056126" cy="867250"/>
            </a:xfrm>
            <a:custGeom>
              <a:avLst/>
              <a:gdLst/>
              <a:ahLst/>
              <a:cxnLst/>
              <a:rect r="r" b="b" t="t" l="l"/>
              <a:pathLst>
                <a:path h="867250" w="4056126">
                  <a:moveTo>
                    <a:pt x="0" y="0"/>
                  </a:moveTo>
                  <a:lnTo>
                    <a:pt x="4056126" y="0"/>
                  </a:lnTo>
                  <a:lnTo>
                    <a:pt x="4056126" y="867250"/>
                  </a:lnTo>
                  <a:lnTo>
                    <a:pt x="0" y="867250"/>
                  </a:ln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476708" y="2313651"/>
            <a:ext cx="2992994" cy="491603"/>
            <a:chOff x="0" y="0"/>
            <a:chExt cx="3771443" cy="6194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71447" cy="619464"/>
            </a:xfrm>
            <a:custGeom>
              <a:avLst/>
              <a:gdLst/>
              <a:ahLst/>
              <a:cxnLst/>
              <a:rect r="r" b="b" t="t" l="l"/>
              <a:pathLst>
                <a:path h="619464" w="3771447">
                  <a:moveTo>
                    <a:pt x="0" y="0"/>
                  </a:moveTo>
                  <a:lnTo>
                    <a:pt x="3771447" y="0"/>
                  </a:lnTo>
                  <a:lnTo>
                    <a:pt x="3771447" y="619464"/>
                  </a:lnTo>
                  <a:lnTo>
                    <a:pt x="0" y="619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626" r="0" b="-5963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3771443" cy="638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4">
                  <a:solidFill>
                    <a:srgbClr val="1851B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ATRIBUTO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534397" y="2190750"/>
            <a:ext cx="5307585" cy="688245"/>
            <a:chOff x="0" y="0"/>
            <a:chExt cx="6688036" cy="86725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88074" cy="867250"/>
            </a:xfrm>
            <a:custGeom>
              <a:avLst/>
              <a:gdLst/>
              <a:ahLst/>
              <a:cxnLst/>
              <a:rect r="r" b="b" t="t" l="l"/>
              <a:pathLst>
                <a:path h="867250" w="6688074">
                  <a:moveTo>
                    <a:pt x="0" y="0"/>
                  </a:moveTo>
                  <a:lnTo>
                    <a:pt x="6688074" y="0"/>
                  </a:lnTo>
                  <a:lnTo>
                    <a:pt x="6688074" y="867250"/>
                  </a:lnTo>
                  <a:lnTo>
                    <a:pt x="0" y="867250"/>
                  </a:ln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695656" y="2313651"/>
            <a:ext cx="5144301" cy="491603"/>
            <a:chOff x="0" y="0"/>
            <a:chExt cx="6482283" cy="6194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82280" cy="619464"/>
            </a:xfrm>
            <a:custGeom>
              <a:avLst/>
              <a:gdLst/>
              <a:ahLst/>
              <a:cxnLst/>
              <a:rect r="r" b="b" t="t" l="l"/>
              <a:pathLst>
                <a:path h="619464" w="6482280">
                  <a:moveTo>
                    <a:pt x="0" y="0"/>
                  </a:moveTo>
                  <a:lnTo>
                    <a:pt x="6482280" y="0"/>
                  </a:lnTo>
                  <a:lnTo>
                    <a:pt x="6482280" y="619464"/>
                  </a:lnTo>
                  <a:lnTo>
                    <a:pt x="0" y="619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2894" r="0" b="-14490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6482283" cy="6385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144">
                  <a:solidFill>
                    <a:srgbClr val="1851B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VALOR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15450" y="3556484"/>
            <a:ext cx="3218947" cy="47625"/>
            <a:chOff x="0" y="0"/>
            <a:chExt cx="4056164" cy="600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056126" cy="60012"/>
            </a:xfrm>
            <a:custGeom>
              <a:avLst/>
              <a:gdLst/>
              <a:ahLst/>
              <a:cxnLst/>
              <a:rect r="r" b="b" t="t" l="l"/>
              <a:pathLst>
                <a:path h="60012" w="4056126">
                  <a:moveTo>
                    <a:pt x="0" y="0"/>
                  </a:moveTo>
                  <a:lnTo>
                    <a:pt x="4056126" y="0"/>
                  </a:lnTo>
                  <a:lnTo>
                    <a:pt x="4056126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76708" y="3026475"/>
            <a:ext cx="2992994" cy="560642"/>
            <a:chOff x="0" y="0"/>
            <a:chExt cx="3771443" cy="70645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771447" cy="706459"/>
            </a:xfrm>
            <a:custGeom>
              <a:avLst/>
              <a:gdLst/>
              <a:ahLst/>
              <a:cxnLst/>
              <a:rect r="r" b="b" t="t" l="l"/>
              <a:pathLst>
                <a:path h="706459" w="3771447">
                  <a:moveTo>
                    <a:pt x="0" y="0"/>
                  </a:moveTo>
                  <a:lnTo>
                    <a:pt x="3771447" y="0"/>
                  </a:lnTo>
                  <a:lnTo>
                    <a:pt x="3771447" y="706459"/>
                  </a:lnTo>
                  <a:lnTo>
                    <a:pt x="0" y="7064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864" r="0" b="-3817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77144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Dataset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34397" y="3556484"/>
            <a:ext cx="5307585" cy="47625"/>
            <a:chOff x="0" y="0"/>
            <a:chExt cx="6688036" cy="6001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88074" cy="60012"/>
            </a:xfrm>
            <a:custGeom>
              <a:avLst/>
              <a:gdLst/>
              <a:ahLst/>
              <a:cxnLst/>
              <a:rect r="r" b="b" t="t" l="l"/>
              <a:pathLst>
                <a:path h="60012" w="6688074">
                  <a:moveTo>
                    <a:pt x="0" y="0"/>
                  </a:moveTo>
                  <a:lnTo>
                    <a:pt x="6688074" y="0"/>
                  </a:lnTo>
                  <a:lnTo>
                    <a:pt x="6688074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95656" y="3026475"/>
            <a:ext cx="5144301" cy="560642"/>
            <a:chOff x="0" y="0"/>
            <a:chExt cx="6482283" cy="7064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482280" cy="706459"/>
            </a:xfrm>
            <a:custGeom>
              <a:avLst/>
              <a:gdLst/>
              <a:ahLst/>
              <a:cxnLst/>
              <a:rect r="r" b="b" t="t" l="l"/>
              <a:pathLst>
                <a:path h="706459" w="6482280">
                  <a:moveTo>
                    <a:pt x="0" y="0"/>
                  </a:moveTo>
                  <a:lnTo>
                    <a:pt x="6482280" y="0"/>
                  </a:lnTo>
                  <a:lnTo>
                    <a:pt x="6482280" y="706459"/>
                  </a:lnTo>
                  <a:lnTo>
                    <a:pt x="0" y="7064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633" r="0" b="-11294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648228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Mall Customers (Kaggle)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5450" y="4287744"/>
            <a:ext cx="3218947" cy="47625"/>
            <a:chOff x="0" y="0"/>
            <a:chExt cx="4056164" cy="600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056126" cy="60012"/>
            </a:xfrm>
            <a:custGeom>
              <a:avLst/>
              <a:gdLst/>
              <a:ahLst/>
              <a:cxnLst/>
              <a:rect r="r" b="b" t="t" l="l"/>
              <a:pathLst>
                <a:path h="60012" w="4056126">
                  <a:moveTo>
                    <a:pt x="0" y="0"/>
                  </a:moveTo>
                  <a:lnTo>
                    <a:pt x="4056126" y="0"/>
                  </a:lnTo>
                  <a:lnTo>
                    <a:pt x="4056126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76708" y="3751590"/>
            <a:ext cx="2992994" cy="560642"/>
            <a:chOff x="0" y="0"/>
            <a:chExt cx="3771443" cy="7064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71447" cy="706458"/>
            </a:xfrm>
            <a:custGeom>
              <a:avLst/>
              <a:gdLst/>
              <a:ahLst/>
              <a:cxnLst/>
              <a:rect r="r" b="b" t="t" l="l"/>
              <a:pathLst>
                <a:path h="706458" w="3771447">
                  <a:moveTo>
                    <a:pt x="0" y="0"/>
                  </a:moveTo>
                  <a:lnTo>
                    <a:pt x="3771447" y="0"/>
                  </a:lnTo>
                  <a:lnTo>
                    <a:pt x="3771447" y="706458"/>
                  </a:lnTo>
                  <a:lnTo>
                    <a:pt x="0" y="706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15" r="0" b="-3862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377144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Registros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534397" y="4287744"/>
            <a:ext cx="5307585" cy="47625"/>
            <a:chOff x="0" y="0"/>
            <a:chExt cx="6688036" cy="6001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688074" cy="60012"/>
            </a:xfrm>
            <a:custGeom>
              <a:avLst/>
              <a:gdLst/>
              <a:ahLst/>
              <a:cxnLst/>
              <a:rect r="r" b="b" t="t" l="l"/>
              <a:pathLst>
                <a:path h="60012" w="6688074">
                  <a:moveTo>
                    <a:pt x="0" y="0"/>
                  </a:moveTo>
                  <a:lnTo>
                    <a:pt x="6688074" y="0"/>
                  </a:lnTo>
                  <a:lnTo>
                    <a:pt x="6688074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695656" y="3751590"/>
            <a:ext cx="5144301" cy="560642"/>
            <a:chOff x="0" y="0"/>
            <a:chExt cx="6482283" cy="70645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482280" cy="706458"/>
            </a:xfrm>
            <a:custGeom>
              <a:avLst/>
              <a:gdLst/>
              <a:ahLst/>
              <a:cxnLst/>
              <a:rect r="r" b="b" t="t" l="l"/>
              <a:pathLst>
                <a:path h="706458" w="6482280">
                  <a:moveTo>
                    <a:pt x="0" y="0"/>
                  </a:moveTo>
                  <a:lnTo>
                    <a:pt x="6482280" y="0"/>
                  </a:lnTo>
                  <a:lnTo>
                    <a:pt x="6482280" y="706458"/>
                  </a:lnTo>
                  <a:lnTo>
                    <a:pt x="0" y="706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84" r="0" b="-11339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648228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300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315450" y="5019004"/>
            <a:ext cx="3218947" cy="47625"/>
            <a:chOff x="0" y="0"/>
            <a:chExt cx="4056164" cy="6001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056126" cy="60012"/>
            </a:xfrm>
            <a:custGeom>
              <a:avLst/>
              <a:gdLst/>
              <a:ahLst/>
              <a:cxnLst/>
              <a:rect r="r" b="b" t="t" l="l"/>
              <a:pathLst>
                <a:path h="60012" w="4056126">
                  <a:moveTo>
                    <a:pt x="0" y="0"/>
                  </a:moveTo>
                  <a:lnTo>
                    <a:pt x="4056126" y="0"/>
                  </a:lnTo>
                  <a:lnTo>
                    <a:pt x="4056126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476708" y="4482850"/>
            <a:ext cx="2992994" cy="560642"/>
            <a:chOff x="0" y="0"/>
            <a:chExt cx="3771443" cy="70645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771447" cy="706458"/>
            </a:xfrm>
            <a:custGeom>
              <a:avLst/>
              <a:gdLst/>
              <a:ahLst/>
              <a:cxnLst/>
              <a:rect r="r" b="b" t="t" l="l"/>
              <a:pathLst>
                <a:path h="706458" w="3771447">
                  <a:moveTo>
                    <a:pt x="0" y="0"/>
                  </a:moveTo>
                  <a:lnTo>
                    <a:pt x="3771447" y="0"/>
                  </a:lnTo>
                  <a:lnTo>
                    <a:pt x="3771447" y="706458"/>
                  </a:lnTo>
                  <a:lnTo>
                    <a:pt x="0" y="706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15" r="0" b="-3862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377144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Variables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534397" y="5019004"/>
            <a:ext cx="5307585" cy="47625"/>
            <a:chOff x="0" y="0"/>
            <a:chExt cx="6688036" cy="600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688074" cy="60012"/>
            </a:xfrm>
            <a:custGeom>
              <a:avLst/>
              <a:gdLst/>
              <a:ahLst/>
              <a:cxnLst/>
              <a:rect r="r" b="b" t="t" l="l"/>
              <a:pathLst>
                <a:path h="60012" w="6688074">
                  <a:moveTo>
                    <a:pt x="0" y="0"/>
                  </a:moveTo>
                  <a:lnTo>
                    <a:pt x="6688074" y="0"/>
                  </a:lnTo>
                  <a:lnTo>
                    <a:pt x="6688074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695656" y="4482850"/>
            <a:ext cx="5144301" cy="560642"/>
            <a:chOff x="0" y="0"/>
            <a:chExt cx="6482283" cy="706459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482280" cy="706458"/>
            </a:xfrm>
            <a:custGeom>
              <a:avLst/>
              <a:gdLst/>
              <a:ahLst/>
              <a:cxnLst/>
              <a:rect r="r" b="b" t="t" l="l"/>
              <a:pathLst>
                <a:path h="706458" w="6482280">
                  <a:moveTo>
                    <a:pt x="0" y="0"/>
                  </a:moveTo>
                  <a:lnTo>
                    <a:pt x="6482280" y="0"/>
                  </a:lnTo>
                  <a:lnTo>
                    <a:pt x="6482280" y="706458"/>
                  </a:lnTo>
                  <a:lnTo>
                    <a:pt x="0" y="706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84" r="0" b="-11339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648228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5 (2 usadas)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315450" y="5750264"/>
            <a:ext cx="3218947" cy="47625"/>
            <a:chOff x="0" y="0"/>
            <a:chExt cx="4056164" cy="6001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056126" cy="60012"/>
            </a:xfrm>
            <a:custGeom>
              <a:avLst/>
              <a:gdLst/>
              <a:ahLst/>
              <a:cxnLst/>
              <a:rect r="r" b="b" t="t" l="l"/>
              <a:pathLst>
                <a:path h="60012" w="4056126">
                  <a:moveTo>
                    <a:pt x="0" y="0"/>
                  </a:moveTo>
                  <a:lnTo>
                    <a:pt x="4056126" y="0"/>
                  </a:lnTo>
                  <a:lnTo>
                    <a:pt x="4056126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476708" y="5214110"/>
            <a:ext cx="2992994" cy="560642"/>
            <a:chOff x="0" y="0"/>
            <a:chExt cx="3771443" cy="70645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771447" cy="706458"/>
            </a:xfrm>
            <a:custGeom>
              <a:avLst/>
              <a:gdLst/>
              <a:ahLst/>
              <a:cxnLst/>
              <a:rect r="r" b="b" t="t" l="l"/>
              <a:pathLst>
                <a:path h="706458" w="3771447">
                  <a:moveTo>
                    <a:pt x="0" y="0"/>
                  </a:moveTo>
                  <a:lnTo>
                    <a:pt x="3771447" y="0"/>
                  </a:lnTo>
                  <a:lnTo>
                    <a:pt x="3771447" y="706458"/>
                  </a:lnTo>
                  <a:lnTo>
                    <a:pt x="0" y="706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415" r="0" b="-38627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377144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Cumple &gt; 100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534397" y="5750264"/>
            <a:ext cx="5307585" cy="47625"/>
            <a:chOff x="0" y="0"/>
            <a:chExt cx="6688036" cy="600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688074" cy="60012"/>
            </a:xfrm>
            <a:custGeom>
              <a:avLst/>
              <a:gdLst/>
              <a:ahLst/>
              <a:cxnLst/>
              <a:rect r="r" b="b" t="t" l="l"/>
              <a:pathLst>
                <a:path h="60012" w="6688074">
                  <a:moveTo>
                    <a:pt x="0" y="0"/>
                  </a:moveTo>
                  <a:lnTo>
                    <a:pt x="6688074" y="0"/>
                  </a:lnTo>
                  <a:lnTo>
                    <a:pt x="6688074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2695656" y="5214110"/>
            <a:ext cx="5144301" cy="560642"/>
            <a:chOff x="0" y="0"/>
            <a:chExt cx="6482283" cy="70645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82280" cy="706458"/>
            </a:xfrm>
            <a:custGeom>
              <a:avLst/>
              <a:gdLst/>
              <a:ahLst/>
              <a:cxnLst/>
              <a:rect r="r" b="b" t="t" l="l"/>
              <a:pathLst>
                <a:path h="706458" w="6482280">
                  <a:moveTo>
                    <a:pt x="0" y="0"/>
                  </a:moveTo>
                  <a:lnTo>
                    <a:pt x="6482280" y="0"/>
                  </a:lnTo>
                  <a:lnTo>
                    <a:pt x="6482280" y="706458"/>
                  </a:lnTo>
                  <a:lnTo>
                    <a:pt x="0" y="706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84" r="0" b="-11339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648228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Sí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315450" y="6481523"/>
            <a:ext cx="3218947" cy="47625"/>
            <a:chOff x="0" y="0"/>
            <a:chExt cx="4056164" cy="600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056126" cy="60012"/>
            </a:xfrm>
            <a:custGeom>
              <a:avLst/>
              <a:gdLst/>
              <a:ahLst/>
              <a:cxnLst/>
              <a:rect r="r" b="b" t="t" l="l"/>
              <a:pathLst>
                <a:path h="60012" w="4056126">
                  <a:moveTo>
                    <a:pt x="0" y="0"/>
                  </a:moveTo>
                  <a:lnTo>
                    <a:pt x="4056126" y="0"/>
                  </a:lnTo>
                  <a:lnTo>
                    <a:pt x="4056126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476708" y="5945370"/>
            <a:ext cx="2992994" cy="560642"/>
            <a:chOff x="0" y="0"/>
            <a:chExt cx="3771443" cy="70645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771447" cy="706458"/>
            </a:xfrm>
            <a:custGeom>
              <a:avLst/>
              <a:gdLst/>
              <a:ahLst/>
              <a:cxnLst/>
              <a:rect r="r" b="b" t="t" l="l"/>
              <a:pathLst>
                <a:path h="706458" w="3771447">
                  <a:moveTo>
                    <a:pt x="0" y="0"/>
                  </a:moveTo>
                  <a:lnTo>
                    <a:pt x="3771447" y="0"/>
                  </a:lnTo>
                  <a:lnTo>
                    <a:pt x="3771447" y="706458"/>
                  </a:lnTo>
                  <a:lnTo>
                    <a:pt x="0" y="70645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58140" r="0" b="-24253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377144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Tipo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534397" y="6481523"/>
            <a:ext cx="5307585" cy="47625"/>
            <a:chOff x="0" y="0"/>
            <a:chExt cx="6688036" cy="6001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688074" cy="60012"/>
            </a:xfrm>
            <a:custGeom>
              <a:avLst/>
              <a:gdLst/>
              <a:ahLst/>
              <a:cxnLst/>
              <a:rect r="r" b="b" t="t" l="l"/>
              <a:pathLst>
                <a:path h="60012" w="6688074">
                  <a:moveTo>
                    <a:pt x="0" y="0"/>
                  </a:moveTo>
                  <a:lnTo>
                    <a:pt x="6688074" y="0"/>
                  </a:lnTo>
                  <a:lnTo>
                    <a:pt x="6688074" y="60012"/>
                  </a:lnTo>
                  <a:lnTo>
                    <a:pt x="0" y="60012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695656" y="5945370"/>
            <a:ext cx="5144301" cy="560642"/>
            <a:chOff x="0" y="0"/>
            <a:chExt cx="6482283" cy="706459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482280" cy="706458"/>
            </a:xfrm>
            <a:custGeom>
              <a:avLst/>
              <a:gdLst/>
              <a:ahLst/>
              <a:cxnLst/>
              <a:rect r="r" b="b" t="t" l="l"/>
              <a:pathLst>
                <a:path h="706458" w="6482280">
                  <a:moveTo>
                    <a:pt x="0" y="0"/>
                  </a:moveTo>
                  <a:lnTo>
                    <a:pt x="6482280" y="0"/>
                  </a:lnTo>
                  <a:lnTo>
                    <a:pt x="6482280" y="706458"/>
                  </a:lnTo>
                  <a:lnTo>
                    <a:pt x="0" y="7064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184" r="0" b="-11339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648228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No supervisado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476708" y="6676629"/>
            <a:ext cx="2992994" cy="560641"/>
            <a:chOff x="0" y="0"/>
            <a:chExt cx="3771443" cy="70645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771447" cy="706459"/>
            </a:xfrm>
            <a:custGeom>
              <a:avLst/>
              <a:gdLst/>
              <a:ahLst/>
              <a:cxnLst/>
              <a:rect r="r" b="b" t="t" l="l"/>
              <a:pathLst>
                <a:path h="706459" w="3771447">
                  <a:moveTo>
                    <a:pt x="0" y="0"/>
                  </a:moveTo>
                  <a:lnTo>
                    <a:pt x="3771447" y="0"/>
                  </a:lnTo>
                  <a:lnTo>
                    <a:pt x="3771447" y="706459"/>
                  </a:lnTo>
                  <a:lnTo>
                    <a:pt x="0" y="7064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966" r="0" b="-3907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377144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Origen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695656" y="6676629"/>
            <a:ext cx="5144301" cy="560641"/>
            <a:chOff x="0" y="0"/>
            <a:chExt cx="6482283" cy="706459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482280" cy="706459"/>
            </a:xfrm>
            <a:custGeom>
              <a:avLst/>
              <a:gdLst/>
              <a:ahLst/>
              <a:cxnLst/>
              <a:rect r="r" b="b" t="t" l="l"/>
              <a:pathLst>
                <a:path h="706459" w="6482280">
                  <a:moveTo>
                    <a:pt x="0" y="0"/>
                  </a:moveTo>
                  <a:lnTo>
                    <a:pt x="6482280" y="0"/>
                  </a:lnTo>
                  <a:lnTo>
                    <a:pt x="6482280" y="706459"/>
                  </a:lnTo>
                  <a:lnTo>
                    <a:pt x="0" y="7064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734" r="0" b="-11384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6482283" cy="7350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D1B35"/>
                  </a:solidFill>
                  <a:latin typeface="Poppins"/>
                  <a:ea typeface="Poppins"/>
                  <a:cs typeface="Poppins"/>
                  <a:sym typeface="Poppins"/>
                </a:rPr>
                <a:t>kaggle.com [9]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939803" y="1082678"/>
            <a:ext cx="10287595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Caso real: Segmentación de clientes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282703" y="2463803"/>
            <a:ext cx="758196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80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82703" y="2759078"/>
            <a:ext cx="7581967" cy="160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Identificar segmentos naturales de clientes y detectar outliers en un centro comercial, usando </a:t>
            </a:r>
            <a:r>
              <a:rPr lang="en-US" sz="22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ingreso anual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y </a:t>
            </a:r>
            <a:r>
              <a:rPr lang="en-US" sz="22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spending score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como variables.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62050" y="6567033"/>
            <a:ext cx="764573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15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¿POR QUÉ IMPORTA?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62050" y="7165977"/>
            <a:ext cx="7645737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Marketing dirigido por perfil de comportamiento.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Deteccion temprana de clientes atipicos (VIP o anomalias).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Optimizacion de promociones y stock.</a:t>
            </a:r>
          </a:p>
          <a:p>
            <a:pPr algn="l">
              <a:lnSpc>
                <a:spcPts val="405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645669" y="1190225"/>
            <a:ext cx="6889697" cy="4985557"/>
            <a:chOff x="0" y="0"/>
            <a:chExt cx="9363348" cy="677555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363348" cy="6775577"/>
            </a:xfrm>
            <a:custGeom>
              <a:avLst/>
              <a:gdLst/>
              <a:ahLst/>
              <a:cxnLst/>
              <a:rect r="r" b="b" t="t" l="l"/>
              <a:pathLst>
                <a:path h="6775577" w="9363348">
                  <a:moveTo>
                    <a:pt x="0" y="177800"/>
                  </a:moveTo>
                  <a:cubicBezTo>
                    <a:pt x="0" y="79629"/>
                    <a:pt x="69395" y="0"/>
                    <a:pt x="154949" y="0"/>
                  </a:cubicBezTo>
                  <a:lnTo>
                    <a:pt x="9208398" y="0"/>
                  </a:lnTo>
                  <a:cubicBezTo>
                    <a:pt x="9293952" y="0"/>
                    <a:pt x="9363348" y="79629"/>
                    <a:pt x="9363348" y="177800"/>
                  </a:cubicBezTo>
                  <a:lnTo>
                    <a:pt x="9363348" y="6597777"/>
                  </a:lnTo>
                  <a:cubicBezTo>
                    <a:pt x="9363348" y="6695948"/>
                    <a:pt x="9293952" y="6775577"/>
                    <a:pt x="9208398" y="6775577"/>
                  </a:cubicBezTo>
                  <a:lnTo>
                    <a:pt x="154949" y="6775577"/>
                  </a:lnTo>
                  <a:cubicBezTo>
                    <a:pt x="69395" y="6775577"/>
                    <a:pt x="0" y="6695948"/>
                    <a:pt x="0" y="6597777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645669" y="6546027"/>
            <a:ext cx="6889697" cy="2908662"/>
          </a:xfrm>
          <a:custGeom>
            <a:avLst/>
            <a:gdLst/>
            <a:ahLst/>
            <a:cxnLst/>
            <a:rect r="r" b="b" t="t" l="l"/>
            <a:pathLst>
              <a:path h="2908662" w="6889697">
                <a:moveTo>
                  <a:pt x="0" y="0"/>
                </a:moveTo>
                <a:lnTo>
                  <a:pt x="6889698" y="0"/>
                </a:lnTo>
                <a:lnTo>
                  <a:pt x="6889698" y="2908663"/>
                </a:lnTo>
                <a:lnTo>
                  <a:pt x="0" y="2908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52" r="-232" b="-1352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5074" y="2720654"/>
            <a:ext cx="9790482" cy="5033843"/>
          </a:xfrm>
          <a:custGeom>
            <a:avLst/>
            <a:gdLst/>
            <a:ahLst/>
            <a:cxnLst/>
            <a:rect r="r" b="b" t="t" l="l"/>
            <a:pathLst>
              <a:path h="5033843" w="9790482">
                <a:moveTo>
                  <a:pt x="0" y="0"/>
                </a:moveTo>
                <a:lnTo>
                  <a:pt x="9790482" y="0"/>
                </a:lnTo>
                <a:lnTo>
                  <a:pt x="9790482" y="5033843"/>
                </a:lnTo>
                <a:lnTo>
                  <a:pt x="0" y="5033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78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39803" y="1082678"/>
            <a:ext cx="7810699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Tuning de hiperparámetros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847611" y="2149154"/>
            <a:ext cx="6517397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15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MÉTODO DEL K-DISTANCE GRAPH [7]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847611" y="2568254"/>
            <a:ext cx="6517397" cy="306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Calcular distancia al k-esimo vecino mas cercano.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Ordenar y graficar.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El 'codo' indica el eps optimo.</a:t>
            </a:r>
          </a:p>
          <a:p>
            <a:pPr algn="l" marL="485775" indent="-242888" lvl="1">
              <a:lnSpc>
                <a:spcPts val="4050"/>
              </a:lnSpc>
              <a:buFont typeface="Arial"/>
              <a:buChar char="•"/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Heuristica: min_samples = 2 * dim. [3]</a:t>
            </a:r>
          </a:p>
          <a:p>
            <a:pPr algn="l">
              <a:lnSpc>
                <a:spcPts val="405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175556" y="7619358"/>
            <a:ext cx="738575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79">
                <a:solidFill>
                  <a:srgbClr val="FFFFFF">
                    <a:alpha val="60000"/>
                  </a:srgbClr>
                </a:solidFill>
                <a:latin typeface="Poppins Bold"/>
                <a:ea typeface="Poppins Bold"/>
                <a:cs typeface="Poppins Bold"/>
                <a:sym typeface="Poppins Bold"/>
              </a:rPr>
              <a:t>DECISIÓN FINAL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59953" y="3149603"/>
            <a:ext cx="415603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>
                    <a:alpha val="6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eps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59953" y="3430591"/>
            <a:ext cx="78000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0.25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48646" y="4181885"/>
            <a:ext cx="158673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>
                    <a:alpha val="60000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min_samples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46128" y="3430591"/>
            <a:ext cx="23529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175556" y="9043346"/>
            <a:ext cx="738575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FFFFFF">
                    <a:alpha val="60000"/>
                  </a:srgbClr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Validado por búsqueda en grilla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14400" y="389732"/>
            <a:ext cx="9842997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Resultados: 4 segmentos + outliers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1819275"/>
            <a:ext cx="495300" cy="28575"/>
            <a:chOff x="0" y="0"/>
            <a:chExt cx="6604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38100"/>
            </a:xfrm>
            <a:custGeom>
              <a:avLst/>
              <a:gdLst/>
              <a:ahLst/>
              <a:cxnLst/>
              <a:rect r="r" b="b" t="t" l="l"/>
              <a:pathLst>
                <a:path h="38100" w="6604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641350" y="0"/>
                  </a:lnTo>
                  <a:cubicBezTo>
                    <a:pt x="651891" y="0"/>
                    <a:pt x="660400" y="8509"/>
                    <a:pt x="660400" y="19050"/>
                  </a:cubicBezTo>
                  <a:cubicBezTo>
                    <a:pt x="660400" y="29591"/>
                    <a:pt x="651891" y="38100"/>
                    <a:pt x="64135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1851B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23900" y="1442999"/>
            <a:ext cx="13258800" cy="8578082"/>
            <a:chOff x="0" y="0"/>
            <a:chExt cx="17678400" cy="114374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78400" cy="11437366"/>
            </a:xfrm>
            <a:custGeom>
              <a:avLst/>
              <a:gdLst/>
              <a:ahLst/>
              <a:cxnLst/>
              <a:rect r="r" b="b" t="t" l="l"/>
              <a:pathLst>
                <a:path h="11437366" w="176784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7475200" y="0"/>
                  </a:lnTo>
                  <a:cubicBezTo>
                    <a:pt x="17587468" y="0"/>
                    <a:pt x="17678400" y="90932"/>
                    <a:pt x="17678400" y="203200"/>
                  </a:cubicBezTo>
                  <a:lnTo>
                    <a:pt x="17678400" y="11234166"/>
                  </a:lnTo>
                  <a:cubicBezTo>
                    <a:pt x="17678400" y="11346435"/>
                    <a:pt x="17587468" y="11437366"/>
                    <a:pt x="17475200" y="11437366"/>
                  </a:cubicBezTo>
                  <a:lnTo>
                    <a:pt x="203200" y="11437366"/>
                  </a:lnTo>
                  <a:cubicBezTo>
                    <a:pt x="90932" y="11437366"/>
                    <a:pt x="0" y="11346435"/>
                    <a:pt x="0" y="11234166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1633499"/>
            <a:ext cx="12877800" cy="8197082"/>
            <a:chOff x="0" y="0"/>
            <a:chExt cx="17170400" cy="10929442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7170400" cy="10929493"/>
            </a:xfrm>
            <a:custGeom>
              <a:avLst/>
              <a:gdLst/>
              <a:ahLst/>
              <a:cxnLst/>
              <a:rect r="r" b="b" t="t" l="l"/>
              <a:pathLst>
                <a:path h="10929493" w="17170400">
                  <a:moveTo>
                    <a:pt x="0" y="0"/>
                  </a:moveTo>
                  <a:lnTo>
                    <a:pt x="17170400" y="0"/>
                  </a:lnTo>
                  <a:lnTo>
                    <a:pt x="17170400" y="10929493"/>
                  </a:lnTo>
                  <a:lnTo>
                    <a:pt x="0" y="10929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625329" y="1443042"/>
            <a:ext cx="2857500" cy="2757707"/>
            <a:chOff x="0" y="0"/>
            <a:chExt cx="3810000" cy="36769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00" cy="3676904"/>
            </a:xfrm>
            <a:custGeom>
              <a:avLst/>
              <a:gdLst/>
              <a:ahLst/>
              <a:cxnLst/>
              <a:rect r="r" b="b" t="t" l="l"/>
              <a:pathLst>
                <a:path h="3676904" w="3810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581400" y="0"/>
                  </a:lnTo>
                  <a:cubicBezTo>
                    <a:pt x="3707638" y="0"/>
                    <a:pt x="3810000" y="102362"/>
                    <a:pt x="3810000" y="228600"/>
                  </a:cubicBezTo>
                  <a:lnTo>
                    <a:pt x="3810000" y="3448304"/>
                  </a:lnTo>
                  <a:cubicBezTo>
                    <a:pt x="3810000" y="3574542"/>
                    <a:pt x="3707638" y="3676904"/>
                    <a:pt x="3581400" y="3676904"/>
                  </a:cubicBezTo>
                  <a:lnTo>
                    <a:pt x="228600" y="3676904"/>
                  </a:lnTo>
                  <a:cubicBezTo>
                    <a:pt x="102362" y="3676904"/>
                    <a:pt x="0" y="3574542"/>
                    <a:pt x="0" y="3448304"/>
                  </a:cubicBez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770938" y="1885231"/>
            <a:ext cx="566291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 spc="-28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55532" y="2923456"/>
            <a:ext cx="2197103" cy="681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1750">
                <a:solidFill>
                  <a:srgbClr val="FFFFFF">
                    <a:alpha val="7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Clusters descubiertos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4625329" y="4353149"/>
            <a:ext cx="2857500" cy="2757783"/>
            <a:chOff x="0" y="0"/>
            <a:chExt cx="3810000" cy="367704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10000" cy="3677031"/>
            </a:xfrm>
            <a:custGeom>
              <a:avLst/>
              <a:gdLst/>
              <a:ahLst/>
              <a:cxnLst/>
              <a:rect r="r" b="b" t="t" l="l"/>
              <a:pathLst>
                <a:path h="3677031" w="3810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581400" y="0"/>
                  </a:lnTo>
                  <a:cubicBezTo>
                    <a:pt x="3707638" y="0"/>
                    <a:pt x="3810000" y="102362"/>
                    <a:pt x="3810000" y="228600"/>
                  </a:cubicBezTo>
                  <a:lnTo>
                    <a:pt x="3810000" y="3448431"/>
                  </a:lnTo>
                  <a:cubicBezTo>
                    <a:pt x="3810000" y="3574669"/>
                    <a:pt x="3707638" y="3677031"/>
                    <a:pt x="3581400" y="3677031"/>
                  </a:cubicBezTo>
                  <a:lnTo>
                    <a:pt x="228600" y="3677031"/>
                  </a:lnTo>
                  <a:cubicBezTo>
                    <a:pt x="102362" y="3677031"/>
                    <a:pt x="0" y="3574669"/>
                    <a:pt x="0" y="3448431"/>
                  </a:cubicBezTo>
                  <a:close/>
                </a:path>
              </a:pathLst>
            </a:custGeom>
            <a:solidFill>
              <a:srgbClr val="0D1B3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546022" y="4795423"/>
            <a:ext cx="1016124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 spc="-28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55532" y="5833648"/>
            <a:ext cx="2197103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1750">
                <a:solidFill>
                  <a:srgbClr val="FFFFFF">
                    <a:alpha val="7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Outliers detectados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4625329" y="7263341"/>
            <a:ext cx="2857500" cy="2757783"/>
            <a:chOff x="0" y="0"/>
            <a:chExt cx="3810000" cy="367704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810000" cy="3677031"/>
            </a:xfrm>
            <a:custGeom>
              <a:avLst/>
              <a:gdLst/>
              <a:ahLst/>
              <a:cxnLst/>
              <a:rect r="r" b="b" t="t" l="l"/>
              <a:pathLst>
                <a:path h="3677031" w="3810000">
                  <a:moveTo>
                    <a:pt x="0" y="228600"/>
                  </a:moveTo>
                  <a:cubicBezTo>
                    <a:pt x="0" y="102362"/>
                    <a:pt x="102362" y="0"/>
                    <a:pt x="228600" y="0"/>
                  </a:cubicBezTo>
                  <a:lnTo>
                    <a:pt x="3581400" y="0"/>
                  </a:lnTo>
                  <a:cubicBezTo>
                    <a:pt x="3707638" y="0"/>
                    <a:pt x="3810000" y="102362"/>
                    <a:pt x="3810000" y="228600"/>
                  </a:cubicBezTo>
                  <a:lnTo>
                    <a:pt x="3810000" y="3448431"/>
                  </a:lnTo>
                  <a:cubicBezTo>
                    <a:pt x="3810000" y="3574669"/>
                    <a:pt x="3707638" y="3677031"/>
                    <a:pt x="3581400" y="3677031"/>
                  </a:cubicBezTo>
                  <a:lnTo>
                    <a:pt x="228600" y="3677031"/>
                  </a:lnTo>
                  <a:cubicBezTo>
                    <a:pt x="102362" y="3677031"/>
                    <a:pt x="0" y="3574669"/>
                    <a:pt x="0" y="3448431"/>
                  </a:cubicBezTo>
                  <a:close/>
                </a:path>
              </a:pathLst>
            </a:custGeom>
            <a:solidFill>
              <a:srgbClr val="3B74D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133098" y="7705606"/>
            <a:ext cx="1841971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 spc="-28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0.58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955532" y="8743831"/>
            <a:ext cx="2197103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0"/>
              </a:lnSpc>
            </a:pPr>
            <a:r>
              <a:rPr lang="en-US" sz="1750">
                <a:solidFill>
                  <a:srgbClr val="FFFFFF">
                    <a:alpha val="74902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Silhouette score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9803" y="1082678"/>
            <a:ext cx="7080349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Interpretación comercial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07256" y="2183606"/>
            <a:ext cx="8072438" cy="2793949"/>
            <a:chOff x="0" y="0"/>
            <a:chExt cx="10763250" cy="37252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63250" cy="3725291"/>
            </a:xfrm>
            <a:custGeom>
              <a:avLst/>
              <a:gdLst/>
              <a:ahLst/>
              <a:cxnLst/>
              <a:rect r="r" b="b" t="t" l="l"/>
              <a:pathLst>
                <a:path h="3725291" w="10763250">
                  <a:moveTo>
                    <a:pt x="0" y="187325"/>
                  </a:moveTo>
                  <a:cubicBezTo>
                    <a:pt x="0" y="83820"/>
                    <a:pt x="84201" y="0"/>
                    <a:pt x="187960" y="0"/>
                  </a:cubicBezTo>
                  <a:lnTo>
                    <a:pt x="10575290" y="0"/>
                  </a:lnTo>
                  <a:lnTo>
                    <a:pt x="10575290" y="9525"/>
                  </a:lnTo>
                  <a:lnTo>
                    <a:pt x="10575290" y="0"/>
                  </a:lnTo>
                  <a:cubicBezTo>
                    <a:pt x="10679049" y="0"/>
                    <a:pt x="10763250" y="83820"/>
                    <a:pt x="10763250" y="187325"/>
                  </a:cubicBezTo>
                  <a:lnTo>
                    <a:pt x="10753725" y="187325"/>
                  </a:lnTo>
                  <a:lnTo>
                    <a:pt x="10763250" y="187325"/>
                  </a:lnTo>
                  <a:lnTo>
                    <a:pt x="10763250" y="3537966"/>
                  </a:lnTo>
                  <a:lnTo>
                    <a:pt x="10753725" y="3537966"/>
                  </a:lnTo>
                  <a:lnTo>
                    <a:pt x="10763250" y="3537966"/>
                  </a:lnTo>
                  <a:cubicBezTo>
                    <a:pt x="10763250" y="3641471"/>
                    <a:pt x="10679049" y="3725291"/>
                    <a:pt x="10575290" y="3725291"/>
                  </a:cubicBezTo>
                  <a:lnTo>
                    <a:pt x="10575290" y="3715766"/>
                  </a:lnTo>
                  <a:lnTo>
                    <a:pt x="10575290" y="3725291"/>
                  </a:lnTo>
                  <a:lnTo>
                    <a:pt x="187960" y="3725291"/>
                  </a:lnTo>
                  <a:lnTo>
                    <a:pt x="187960" y="3715766"/>
                  </a:lnTo>
                  <a:lnTo>
                    <a:pt x="187960" y="3725291"/>
                  </a:lnTo>
                  <a:cubicBezTo>
                    <a:pt x="84201" y="3725291"/>
                    <a:pt x="0" y="3641471"/>
                    <a:pt x="0" y="3537966"/>
                  </a:cubicBezTo>
                  <a:lnTo>
                    <a:pt x="0" y="187325"/>
                  </a:lnTo>
                  <a:lnTo>
                    <a:pt x="9525" y="187325"/>
                  </a:lnTo>
                  <a:lnTo>
                    <a:pt x="0" y="187325"/>
                  </a:lnTo>
                  <a:moveTo>
                    <a:pt x="19050" y="187325"/>
                  </a:moveTo>
                  <a:lnTo>
                    <a:pt x="19050" y="3537966"/>
                  </a:lnTo>
                  <a:lnTo>
                    <a:pt x="9525" y="3537966"/>
                  </a:lnTo>
                  <a:lnTo>
                    <a:pt x="19050" y="3537966"/>
                  </a:lnTo>
                  <a:cubicBezTo>
                    <a:pt x="19050" y="3630803"/>
                    <a:pt x="94615" y="3706241"/>
                    <a:pt x="187960" y="3706241"/>
                  </a:cubicBezTo>
                  <a:lnTo>
                    <a:pt x="10575290" y="3706241"/>
                  </a:lnTo>
                  <a:cubicBezTo>
                    <a:pt x="10668635" y="3706241"/>
                    <a:pt x="10744200" y="3630930"/>
                    <a:pt x="10744200" y="3537966"/>
                  </a:cubicBezTo>
                  <a:lnTo>
                    <a:pt x="10744200" y="187325"/>
                  </a:lnTo>
                  <a:cubicBezTo>
                    <a:pt x="10744200" y="94488"/>
                    <a:pt x="10668635" y="19050"/>
                    <a:pt x="10575290" y="19050"/>
                  </a:cubicBezTo>
                  <a:lnTo>
                    <a:pt x="187960" y="19050"/>
                  </a:lnTo>
                  <a:lnTo>
                    <a:pt x="187960" y="9525"/>
                  </a:lnTo>
                  <a:lnTo>
                    <a:pt x="187960" y="19050"/>
                  </a:lnTo>
                  <a:cubicBezTo>
                    <a:pt x="94615" y="19050"/>
                    <a:pt x="19050" y="94361"/>
                    <a:pt x="19050" y="187325"/>
                  </a:cubicBez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20791" y="2459041"/>
            <a:ext cx="22543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Cuidadosos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369816" y="2471738"/>
            <a:ext cx="1321746" cy="457200"/>
            <a:chOff x="0" y="0"/>
            <a:chExt cx="1762328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2379" cy="609600"/>
            </a:xfrm>
            <a:custGeom>
              <a:avLst/>
              <a:gdLst/>
              <a:ahLst/>
              <a:cxnLst/>
              <a:rect r="r" b="b" t="t" l="l"/>
              <a:pathLst>
                <a:path h="609600" w="1762379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686179" y="0"/>
                  </a:lnTo>
                  <a:cubicBezTo>
                    <a:pt x="1728216" y="0"/>
                    <a:pt x="1762379" y="34163"/>
                    <a:pt x="1762379" y="76200"/>
                  </a:cubicBezTo>
                  <a:lnTo>
                    <a:pt x="1762379" y="533400"/>
                  </a:lnTo>
                  <a:cubicBezTo>
                    <a:pt x="1762379" y="575437"/>
                    <a:pt x="1728216" y="609600"/>
                    <a:pt x="1686179" y="609600"/>
                  </a:cubicBezTo>
                  <a:lnTo>
                    <a:pt x="76200" y="609600"/>
                  </a:lnTo>
                  <a:cubicBezTo>
                    <a:pt x="34163" y="609600"/>
                    <a:pt x="0" y="575437"/>
                    <a:pt x="0" y="53340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528570" y="2535241"/>
            <a:ext cx="108044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 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0791" y="3035303"/>
            <a:ext cx="7670263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556070"/>
                </a:solidFill>
                <a:latin typeface="Poppins"/>
                <a:ea typeface="Poppins"/>
                <a:cs typeface="Poppins"/>
                <a:sym typeface="Poppins"/>
              </a:rPr>
              <a:t>Alto ingreso · Bajo spending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95388" y="4151262"/>
            <a:ext cx="7496175" cy="9525"/>
            <a:chOff x="0" y="0"/>
            <a:chExt cx="9994900" cy="127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994900" cy="12700"/>
            </a:xfrm>
            <a:custGeom>
              <a:avLst/>
              <a:gdLst/>
              <a:ahLst/>
              <a:cxnLst/>
              <a:rect r="r" b="b" t="t" l="l"/>
              <a:pathLst>
                <a:path h="12700" w="9994900">
                  <a:moveTo>
                    <a:pt x="0" y="0"/>
                  </a:moveTo>
                  <a:lnTo>
                    <a:pt x="9994900" y="0"/>
                  </a:lnTo>
                  <a:lnTo>
                    <a:pt x="99949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20791" y="4157615"/>
            <a:ext cx="767026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Acción: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Programa de fidelización premium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08306" y="2183606"/>
            <a:ext cx="8072438" cy="2793949"/>
            <a:chOff x="0" y="0"/>
            <a:chExt cx="10763250" cy="37252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63250" cy="3725291"/>
            </a:xfrm>
            <a:custGeom>
              <a:avLst/>
              <a:gdLst/>
              <a:ahLst/>
              <a:cxnLst/>
              <a:rect r="r" b="b" t="t" l="l"/>
              <a:pathLst>
                <a:path h="3725291" w="10763250">
                  <a:moveTo>
                    <a:pt x="0" y="187325"/>
                  </a:moveTo>
                  <a:cubicBezTo>
                    <a:pt x="0" y="83820"/>
                    <a:pt x="84201" y="0"/>
                    <a:pt x="187960" y="0"/>
                  </a:cubicBezTo>
                  <a:lnTo>
                    <a:pt x="10575290" y="0"/>
                  </a:lnTo>
                  <a:lnTo>
                    <a:pt x="10575290" y="9525"/>
                  </a:lnTo>
                  <a:lnTo>
                    <a:pt x="10575290" y="0"/>
                  </a:lnTo>
                  <a:cubicBezTo>
                    <a:pt x="10679049" y="0"/>
                    <a:pt x="10763250" y="83820"/>
                    <a:pt x="10763250" y="187325"/>
                  </a:cubicBezTo>
                  <a:lnTo>
                    <a:pt x="10753725" y="187325"/>
                  </a:lnTo>
                  <a:lnTo>
                    <a:pt x="10763250" y="187325"/>
                  </a:lnTo>
                  <a:lnTo>
                    <a:pt x="10763250" y="3537966"/>
                  </a:lnTo>
                  <a:lnTo>
                    <a:pt x="10753725" y="3537966"/>
                  </a:lnTo>
                  <a:lnTo>
                    <a:pt x="10763250" y="3537966"/>
                  </a:lnTo>
                  <a:cubicBezTo>
                    <a:pt x="10763250" y="3641471"/>
                    <a:pt x="10679049" y="3725291"/>
                    <a:pt x="10575290" y="3725291"/>
                  </a:cubicBezTo>
                  <a:lnTo>
                    <a:pt x="10575290" y="3715766"/>
                  </a:lnTo>
                  <a:lnTo>
                    <a:pt x="10575290" y="3725291"/>
                  </a:lnTo>
                  <a:lnTo>
                    <a:pt x="187960" y="3725291"/>
                  </a:lnTo>
                  <a:lnTo>
                    <a:pt x="187960" y="3715766"/>
                  </a:lnTo>
                  <a:lnTo>
                    <a:pt x="187960" y="3725291"/>
                  </a:lnTo>
                  <a:cubicBezTo>
                    <a:pt x="84201" y="3725291"/>
                    <a:pt x="0" y="3641471"/>
                    <a:pt x="0" y="3537966"/>
                  </a:cubicBezTo>
                  <a:lnTo>
                    <a:pt x="0" y="187325"/>
                  </a:lnTo>
                  <a:lnTo>
                    <a:pt x="9525" y="187325"/>
                  </a:lnTo>
                  <a:lnTo>
                    <a:pt x="0" y="187325"/>
                  </a:lnTo>
                  <a:moveTo>
                    <a:pt x="19050" y="187325"/>
                  </a:moveTo>
                  <a:lnTo>
                    <a:pt x="19050" y="3537966"/>
                  </a:lnTo>
                  <a:lnTo>
                    <a:pt x="9525" y="3537966"/>
                  </a:lnTo>
                  <a:lnTo>
                    <a:pt x="19050" y="3537966"/>
                  </a:lnTo>
                  <a:cubicBezTo>
                    <a:pt x="19050" y="3630803"/>
                    <a:pt x="94615" y="3706241"/>
                    <a:pt x="187960" y="3706241"/>
                  </a:cubicBezTo>
                  <a:lnTo>
                    <a:pt x="10575290" y="3706241"/>
                  </a:lnTo>
                  <a:cubicBezTo>
                    <a:pt x="10668635" y="3706241"/>
                    <a:pt x="10744200" y="3630930"/>
                    <a:pt x="10744200" y="3537966"/>
                  </a:cubicBezTo>
                  <a:lnTo>
                    <a:pt x="10744200" y="187325"/>
                  </a:lnTo>
                  <a:cubicBezTo>
                    <a:pt x="10744200" y="94488"/>
                    <a:pt x="10668635" y="19050"/>
                    <a:pt x="10575290" y="19050"/>
                  </a:cubicBezTo>
                  <a:lnTo>
                    <a:pt x="187960" y="19050"/>
                  </a:lnTo>
                  <a:lnTo>
                    <a:pt x="187960" y="9525"/>
                  </a:lnTo>
                  <a:lnTo>
                    <a:pt x="187960" y="19050"/>
                  </a:lnTo>
                  <a:cubicBezTo>
                    <a:pt x="94615" y="19050"/>
                    <a:pt x="19050" y="94361"/>
                    <a:pt x="19050" y="187325"/>
                  </a:cubicBez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621841" y="2459041"/>
            <a:ext cx="207989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Impulsivos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787535" y="2471738"/>
            <a:ext cx="1305077" cy="457200"/>
            <a:chOff x="0" y="0"/>
            <a:chExt cx="1740103" cy="609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40154" cy="609600"/>
            </a:xfrm>
            <a:custGeom>
              <a:avLst/>
              <a:gdLst/>
              <a:ahLst/>
              <a:cxnLst/>
              <a:rect r="r" b="b" t="t" l="l"/>
              <a:pathLst>
                <a:path h="609600" w="174015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663954" y="0"/>
                  </a:lnTo>
                  <a:cubicBezTo>
                    <a:pt x="1705991" y="0"/>
                    <a:pt x="1740154" y="34163"/>
                    <a:pt x="1740154" y="76200"/>
                  </a:cubicBezTo>
                  <a:lnTo>
                    <a:pt x="1740154" y="533400"/>
                  </a:lnTo>
                  <a:cubicBezTo>
                    <a:pt x="1740154" y="575437"/>
                    <a:pt x="1705991" y="609600"/>
                    <a:pt x="1663954" y="609600"/>
                  </a:cubicBezTo>
                  <a:lnTo>
                    <a:pt x="76200" y="609600"/>
                  </a:lnTo>
                  <a:cubicBezTo>
                    <a:pt x="34163" y="609600"/>
                    <a:pt x="0" y="575437"/>
                    <a:pt x="0" y="53340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5946288" y="2535241"/>
            <a:ext cx="1063771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 B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21841" y="3035303"/>
            <a:ext cx="7670263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556070"/>
                </a:solidFill>
                <a:latin typeface="Poppins"/>
                <a:ea typeface="Poppins"/>
                <a:cs typeface="Poppins"/>
                <a:sym typeface="Poppins"/>
              </a:rPr>
              <a:t>Bajo ingreso · Alto spending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596438" y="4151262"/>
            <a:ext cx="7496175" cy="9525"/>
            <a:chOff x="0" y="0"/>
            <a:chExt cx="9994900" cy="127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994900" cy="12700"/>
            </a:xfrm>
            <a:custGeom>
              <a:avLst/>
              <a:gdLst/>
              <a:ahLst/>
              <a:cxnLst/>
              <a:rect r="r" b="b" t="t" l="l"/>
              <a:pathLst>
                <a:path h="12700" w="9994900">
                  <a:moveTo>
                    <a:pt x="0" y="0"/>
                  </a:moveTo>
                  <a:lnTo>
                    <a:pt x="9994900" y="0"/>
                  </a:lnTo>
                  <a:lnTo>
                    <a:pt x="99949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621841" y="4157615"/>
            <a:ext cx="767026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Acción: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Promociones flash y descuentos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7256" y="5306168"/>
            <a:ext cx="8072438" cy="2794025"/>
            <a:chOff x="0" y="0"/>
            <a:chExt cx="10763250" cy="372536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63250" cy="3725418"/>
            </a:xfrm>
            <a:custGeom>
              <a:avLst/>
              <a:gdLst/>
              <a:ahLst/>
              <a:cxnLst/>
              <a:rect r="r" b="b" t="t" l="l"/>
              <a:pathLst>
                <a:path h="3725418" w="10763250">
                  <a:moveTo>
                    <a:pt x="0" y="187325"/>
                  </a:moveTo>
                  <a:cubicBezTo>
                    <a:pt x="0" y="83820"/>
                    <a:pt x="84201" y="0"/>
                    <a:pt x="187960" y="0"/>
                  </a:cubicBezTo>
                  <a:lnTo>
                    <a:pt x="10575290" y="0"/>
                  </a:lnTo>
                  <a:lnTo>
                    <a:pt x="10575290" y="9525"/>
                  </a:lnTo>
                  <a:lnTo>
                    <a:pt x="10575290" y="0"/>
                  </a:lnTo>
                  <a:cubicBezTo>
                    <a:pt x="10679049" y="0"/>
                    <a:pt x="10763250" y="83820"/>
                    <a:pt x="10763250" y="187325"/>
                  </a:cubicBezTo>
                  <a:lnTo>
                    <a:pt x="10753725" y="187325"/>
                  </a:lnTo>
                  <a:lnTo>
                    <a:pt x="10763250" y="187325"/>
                  </a:lnTo>
                  <a:lnTo>
                    <a:pt x="10763250" y="3538093"/>
                  </a:lnTo>
                  <a:lnTo>
                    <a:pt x="10753725" y="3538093"/>
                  </a:lnTo>
                  <a:lnTo>
                    <a:pt x="10763250" y="3538093"/>
                  </a:lnTo>
                  <a:cubicBezTo>
                    <a:pt x="10763250" y="3641598"/>
                    <a:pt x="10679049" y="3725418"/>
                    <a:pt x="10575290" y="3725418"/>
                  </a:cubicBezTo>
                  <a:lnTo>
                    <a:pt x="10575290" y="3715893"/>
                  </a:lnTo>
                  <a:lnTo>
                    <a:pt x="10575290" y="3725418"/>
                  </a:lnTo>
                  <a:lnTo>
                    <a:pt x="187960" y="3725418"/>
                  </a:lnTo>
                  <a:lnTo>
                    <a:pt x="187960" y="3715893"/>
                  </a:lnTo>
                  <a:lnTo>
                    <a:pt x="187960" y="3725418"/>
                  </a:lnTo>
                  <a:cubicBezTo>
                    <a:pt x="84201" y="3725418"/>
                    <a:pt x="0" y="3641598"/>
                    <a:pt x="0" y="3538093"/>
                  </a:cubicBezTo>
                  <a:lnTo>
                    <a:pt x="0" y="187325"/>
                  </a:lnTo>
                  <a:lnTo>
                    <a:pt x="9525" y="187325"/>
                  </a:lnTo>
                  <a:lnTo>
                    <a:pt x="0" y="187325"/>
                  </a:lnTo>
                  <a:moveTo>
                    <a:pt x="19050" y="187325"/>
                  </a:moveTo>
                  <a:lnTo>
                    <a:pt x="19050" y="3538093"/>
                  </a:lnTo>
                  <a:lnTo>
                    <a:pt x="9525" y="3538093"/>
                  </a:lnTo>
                  <a:lnTo>
                    <a:pt x="19050" y="3538093"/>
                  </a:lnTo>
                  <a:cubicBezTo>
                    <a:pt x="19050" y="3631057"/>
                    <a:pt x="94615" y="3706368"/>
                    <a:pt x="187960" y="3706368"/>
                  </a:cubicBezTo>
                  <a:lnTo>
                    <a:pt x="10575290" y="3706368"/>
                  </a:lnTo>
                  <a:cubicBezTo>
                    <a:pt x="10668635" y="3706368"/>
                    <a:pt x="10744200" y="3631057"/>
                    <a:pt x="10744200" y="3538093"/>
                  </a:cubicBezTo>
                  <a:lnTo>
                    <a:pt x="10744200" y="187325"/>
                  </a:lnTo>
                  <a:cubicBezTo>
                    <a:pt x="10744200" y="94361"/>
                    <a:pt x="10668635" y="19050"/>
                    <a:pt x="10575290" y="19050"/>
                  </a:cubicBezTo>
                  <a:lnTo>
                    <a:pt x="187960" y="19050"/>
                  </a:lnTo>
                  <a:lnTo>
                    <a:pt x="187960" y="9525"/>
                  </a:lnTo>
                  <a:lnTo>
                    <a:pt x="187960" y="19050"/>
                  </a:lnTo>
                  <a:cubicBezTo>
                    <a:pt x="94615" y="19050"/>
                    <a:pt x="19050" y="94361"/>
                    <a:pt x="19050" y="187325"/>
                  </a:cubicBez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20791" y="5581602"/>
            <a:ext cx="25102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VIP / Objetivo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357910" y="5594299"/>
            <a:ext cx="1333652" cy="457200"/>
            <a:chOff x="0" y="0"/>
            <a:chExt cx="1778203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78254" cy="609600"/>
            </a:xfrm>
            <a:custGeom>
              <a:avLst/>
              <a:gdLst/>
              <a:ahLst/>
              <a:cxnLst/>
              <a:rect r="r" b="b" t="t" l="l"/>
              <a:pathLst>
                <a:path h="609600" w="1778254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702054" y="0"/>
                  </a:lnTo>
                  <a:cubicBezTo>
                    <a:pt x="1744091" y="0"/>
                    <a:pt x="1778254" y="34163"/>
                    <a:pt x="1778254" y="76200"/>
                  </a:cubicBezTo>
                  <a:lnTo>
                    <a:pt x="1778254" y="533400"/>
                  </a:lnTo>
                  <a:cubicBezTo>
                    <a:pt x="1778254" y="575437"/>
                    <a:pt x="1744091" y="609600"/>
                    <a:pt x="1702054" y="609600"/>
                  </a:cubicBezTo>
                  <a:lnTo>
                    <a:pt x="76200" y="609600"/>
                  </a:lnTo>
                  <a:cubicBezTo>
                    <a:pt x="34163" y="609600"/>
                    <a:pt x="0" y="575437"/>
                    <a:pt x="0" y="53340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7516663" y="5657802"/>
            <a:ext cx="10923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 C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0791" y="6157865"/>
            <a:ext cx="7670263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556070"/>
                </a:solidFill>
                <a:latin typeface="Poppins"/>
                <a:ea typeface="Poppins"/>
                <a:cs typeface="Poppins"/>
                <a:sym typeface="Poppins"/>
              </a:rPr>
              <a:t>Alto ingreso · Alto spending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95388" y="7273900"/>
            <a:ext cx="7496175" cy="9525"/>
            <a:chOff x="0" y="0"/>
            <a:chExt cx="9994900" cy="12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4900" cy="12700"/>
            </a:xfrm>
            <a:custGeom>
              <a:avLst/>
              <a:gdLst/>
              <a:ahLst/>
              <a:cxnLst/>
              <a:rect r="r" b="b" t="t" l="l"/>
              <a:pathLst>
                <a:path h="12700" w="9994900">
                  <a:moveTo>
                    <a:pt x="0" y="0"/>
                  </a:moveTo>
                  <a:lnTo>
                    <a:pt x="9994900" y="0"/>
                  </a:lnTo>
                  <a:lnTo>
                    <a:pt x="99949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220791" y="7280253"/>
            <a:ext cx="767026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Acción: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Servicio personalizado y eventos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308306" y="5306168"/>
            <a:ext cx="8072438" cy="2794025"/>
            <a:chOff x="0" y="0"/>
            <a:chExt cx="10763250" cy="372536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763250" cy="3725418"/>
            </a:xfrm>
            <a:custGeom>
              <a:avLst/>
              <a:gdLst/>
              <a:ahLst/>
              <a:cxnLst/>
              <a:rect r="r" b="b" t="t" l="l"/>
              <a:pathLst>
                <a:path h="3725418" w="10763250">
                  <a:moveTo>
                    <a:pt x="0" y="187325"/>
                  </a:moveTo>
                  <a:cubicBezTo>
                    <a:pt x="0" y="83820"/>
                    <a:pt x="84201" y="0"/>
                    <a:pt x="187960" y="0"/>
                  </a:cubicBezTo>
                  <a:lnTo>
                    <a:pt x="10575290" y="0"/>
                  </a:lnTo>
                  <a:lnTo>
                    <a:pt x="10575290" y="9525"/>
                  </a:lnTo>
                  <a:lnTo>
                    <a:pt x="10575290" y="0"/>
                  </a:lnTo>
                  <a:cubicBezTo>
                    <a:pt x="10679049" y="0"/>
                    <a:pt x="10763250" y="83820"/>
                    <a:pt x="10763250" y="187325"/>
                  </a:cubicBezTo>
                  <a:lnTo>
                    <a:pt x="10753725" y="187325"/>
                  </a:lnTo>
                  <a:lnTo>
                    <a:pt x="10763250" y="187325"/>
                  </a:lnTo>
                  <a:lnTo>
                    <a:pt x="10763250" y="3538093"/>
                  </a:lnTo>
                  <a:lnTo>
                    <a:pt x="10753725" y="3538093"/>
                  </a:lnTo>
                  <a:lnTo>
                    <a:pt x="10763250" y="3538093"/>
                  </a:lnTo>
                  <a:cubicBezTo>
                    <a:pt x="10763250" y="3641598"/>
                    <a:pt x="10679049" y="3725418"/>
                    <a:pt x="10575290" y="3725418"/>
                  </a:cubicBezTo>
                  <a:lnTo>
                    <a:pt x="10575290" y="3715893"/>
                  </a:lnTo>
                  <a:lnTo>
                    <a:pt x="10575290" y="3725418"/>
                  </a:lnTo>
                  <a:lnTo>
                    <a:pt x="187960" y="3725418"/>
                  </a:lnTo>
                  <a:lnTo>
                    <a:pt x="187960" y="3715893"/>
                  </a:lnTo>
                  <a:lnTo>
                    <a:pt x="187960" y="3725418"/>
                  </a:lnTo>
                  <a:cubicBezTo>
                    <a:pt x="84201" y="3725418"/>
                    <a:pt x="0" y="3641598"/>
                    <a:pt x="0" y="3538093"/>
                  </a:cubicBezTo>
                  <a:lnTo>
                    <a:pt x="0" y="187325"/>
                  </a:lnTo>
                  <a:lnTo>
                    <a:pt x="9525" y="187325"/>
                  </a:lnTo>
                  <a:lnTo>
                    <a:pt x="0" y="187325"/>
                  </a:lnTo>
                  <a:moveTo>
                    <a:pt x="19050" y="187325"/>
                  </a:moveTo>
                  <a:lnTo>
                    <a:pt x="19050" y="3538093"/>
                  </a:lnTo>
                  <a:lnTo>
                    <a:pt x="9525" y="3538093"/>
                  </a:lnTo>
                  <a:lnTo>
                    <a:pt x="19050" y="3538093"/>
                  </a:lnTo>
                  <a:cubicBezTo>
                    <a:pt x="19050" y="3631057"/>
                    <a:pt x="94615" y="3706368"/>
                    <a:pt x="187960" y="3706368"/>
                  </a:cubicBezTo>
                  <a:lnTo>
                    <a:pt x="10575290" y="3706368"/>
                  </a:lnTo>
                  <a:cubicBezTo>
                    <a:pt x="10668635" y="3706368"/>
                    <a:pt x="10744200" y="3631057"/>
                    <a:pt x="10744200" y="3538093"/>
                  </a:cubicBezTo>
                  <a:lnTo>
                    <a:pt x="10744200" y="187325"/>
                  </a:lnTo>
                  <a:cubicBezTo>
                    <a:pt x="10744200" y="94361"/>
                    <a:pt x="10668635" y="19050"/>
                    <a:pt x="10575290" y="19050"/>
                  </a:cubicBezTo>
                  <a:lnTo>
                    <a:pt x="187960" y="19050"/>
                  </a:lnTo>
                  <a:lnTo>
                    <a:pt x="187960" y="9525"/>
                  </a:lnTo>
                  <a:lnTo>
                    <a:pt x="187960" y="19050"/>
                  </a:lnTo>
                  <a:cubicBezTo>
                    <a:pt x="94615" y="19050"/>
                    <a:pt x="19050" y="94361"/>
                    <a:pt x="19050" y="187325"/>
                  </a:cubicBez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621841" y="5581602"/>
            <a:ext cx="170633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Estándar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5770647" y="5594299"/>
            <a:ext cx="1321965" cy="457200"/>
            <a:chOff x="0" y="0"/>
            <a:chExt cx="1762620" cy="609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62633" cy="609600"/>
            </a:xfrm>
            <a:custGeom>
              <a:avLst/>
              <a:gdLst/>
              <a:ahLst/>
              <a:cxnLst/>
              <a:rect r="r" b="b" t="t" l="l"/>
              <a:pathLst>
                <a:path h="609600" w="1762633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686433" y="0"/>
                  </a:lnTo>
                  <a:cubicBezTo>
                    <a:pt x="1728470" y="0"/>
                    <a:pt x="1762633" y="34163"/>
                    <a:pt x="1762633" y="76200"/>
                  </a:cubicBezTo>
                  <a:lnTo>
                    <a:pt x="1762633" y="533400"/>
                  </a:lnTo>
                  <a:cubicBezTo>
                    <a:pt x="1762633" y="575437"/>
                    <a:pt x="1728470" y="609600"/>
                    <a:pt x="1686433" y="609600"/>
                  </a:cubicBezTo>
                  <a:lnTo>
                    <a:pt x="76200" y="609600"/>
                  </a:lnTo>
                  <a:cubicBezTo>
                    <a:pt x="34163" y="609600"/>
                    <a:pt x="0" y="575437"/>
                    <a:pt x="0" y="533400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5929400" y="5657802"/>
            <a:ext cx="108066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Cluster 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21841" y="6157865"/>
            <a:ext cx="7670263" cy="46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250">
                <a:solidFill>
                  <a:srgbClr val="556070"/>
                </a:solidFill>
                <a:latin typeface="Poppins"/>
                <a:ea typeface="Poppins"/>
                <a:cs typeface="Poppins"/>
                <a:sym typeface="Poppins"/>
              </a:rPr>
              <a:t>Ingreso medio · Gasto medio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596438" y="7273900"/>
            <a:ext cx="7496175" cy="9525"/>
            <a:chOff x="0" y="0"/>
            <a:chExt cx="9994900" cy="127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994900" cy="12700"/>
            </a:xfrm>
            <a:custGeom>
              <a:avLst/>
              <a:gdLst/>
              <a:ahLst/>
              <a:cxnLst/>
              <a:rect r="r" b="b" t="t" l="l"/>
              <a:pathLst>
                <a:path h="12700" w="9994900">
                  <a:moveTo>
                    <a:pt x="0" y="0"/>
                  </a:moveTo>
                  <a:lnTo>
                    <a:pt x="9994900" y="0"/>
                  </a:lnTo>
                  <a:lnTo>
                    <a:pt x="99949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621841" y="7280253"/>
            <a:ext cx="7670263" cy="483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5"/>
              </a:lnSpc>
            </a:pPr>
            <a:r>
              <a:rPr lang="en-US" sz="225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Acción: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Comunicación masiva eficiente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14400" y="8435950"/>
            <a:ext cx="16459200" cy="1279550"/>
            <a:chOff x="0" y="0"/>
            <a:chExt cx="21945600" cy="170606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945600" cy="1706118"/>
            </a:xfrm>
            <a:custGeom>
              <a:avLst/>
              <a:gdLst/>
              <a:ahLst/>
              <a:cxnLst/>
              <a:rect r="r" b="b" t="t" l="l"/>
              <a:pathLst>
                <a:path h="1706118" w="219456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21793200" y="0"/>
                  </a:lnTo>
                  <a:cubicBezTo>
                    <a:pt x="21877401" y="0"/>
                    <a:pt x="21945600" y="68199"/>
                    <a:pt x="21945600" y="152400"/>
                  </a:cubicBezTo>
                  <a:lnTo>
                    <a:pt x="21945600" y="1553718"/>
                  </a:lnTo>
                  <a:cubicBezTo>
                    <a:pt x="21945600" y="1637919"/>
                    <a:pt x="21877401" y="1706118"/>
                    <a:pt x="21793200" y="1706118"/>
                  </a:cubicBezTo>
                  <a:lnTo>
                    <a:pt x="152400" y="1706118"/>
                  </a:lnTo>
                  <a:cubicBezTo>
                    <a:pt x="68199" y="1706118"/>
                    <a:pt x="0" y="1637919"/>
                    <a:pt x="0" y="1553718"/>
                  </a:cubicBezTo>
                  <a:close/>
                </a:path>
              </a:pathLst>
            </a:custGeom>
            <a:solidFill>
              <a:srgbClr val="EEF4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14400" y="8435950"/>
            <a:ext cx="38100" cy="1279550"/>
            <a:chOff x="0" y="0"/>
            <a:chExt cx="50800" cy="170606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0800" cy="1706118"/>
            </a:xfrm>
            <a:custGeom>
              <a:avLst/>
              <a:gdLst/>
              <a:ahLst/>
              <a:cxnLst/>
              <a:rect r="r" b="b" t="t" l="l"/>
              <a:pathLst>
                <a:path h="1706118" w="50800">
                  <a:moveTo>
                    <a:pt x="0" y="0"/>
                  </a:moveTo>
                  <a:lnTo>
                    <a:pt x="50800" y="0"/>
                  </a:lnTo>
                  <a:lnTo>
                    <a:pt x="50800" y="1706118"/>
                  </a:lnTo>
                  <a:lnTo>
                    <a:pt x="0" y="1706118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244603" y="8480403"/>
            <a:ext cx="16313534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Los </a:t>
            </a:r>
            <a:r>
              <a:rPr lang="en-US" sz="2250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20 outliers </a:t>
            </a:r>
            <a:r>
              <a:rPr lang="en-US" sz="225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requieren análisis individual: pueden ser clientes nicho o errores de captura de datos.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9803" y="1082678"/>
            <a:ext cx="10527110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Conclusiones y lecciones aprendidas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20791" y="2420941"/>
            <a:ext cx="1361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0891" y="2430466"/>
            <a:ext cx="1549924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Implementación manual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20891" y="2801941"/>
            <a:ext cx="15499242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250">
                <a:solidFill>
                  <a:srgbClr val="556070"/>
                </a:solidFill>
                <a:latin typeface="Poppins"/>
                <a:ea typeface="Poppins"/>
                <a:cs typeface="Poppins"/>
                <a:sym typeface="Poppins"/>
              </a:rPr>
              <a:t>Codificarlo desde cero (region_query + BFS) reveló que la complejidad real está en la lógica de density-reachable, no en el código. Solo NumPy + 30 líneas.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0791" y="4257518"/>
            <a:ext cx="20672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20891" y="4267043"/>
            <a:ext cx="1549924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Manual vs. librerías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20891" y="4638518"/>
            <a:ext cx="15499242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250">
                <a:solidFill>
                  <a:srgbClr val="556070"/>
                </a:solidFill>
                <a:latin typeface="Poppins"/>
                <a:ea typeface="Poppins"/>
                <a:cs typeface="Poppins"/>
                <a:sym typeface="Poppins"/>
              </a:rPr>
              <a:t>scikit-learn produce los mismos resultados pero usa kd-tree → O(n log n) en lugar de O(n²). Para datasets &gt;10k filas la diferencia es enorme.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2050" y="6097748"/>
            <a:ext cx="219001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851B4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62150" y="6107273"/>
            <a:ext cx="15499242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</a:pPr>
            <a:r>
              <a:rPr lang="en-US" sz="2449" b="true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Hiperparámetros importan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62150" y="6478748"/>
            <a:ext cx="15499242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5"/>
              </a:lnSpc>
            </a:pPr>
            <a:r>
              <a:rPr lang="en-US" sz="2250">
                <a:solidFill>
                  <a:srgbClr val="556070"/>
                </a:solidFill>
                <a:latin typeface="Poppins"/>
                <a:ea typeface="Poppins"/>
                <a:cs typeface="Poppins"/>
                <a:sym typeface="Poppins"/>
              </a:rPr>
              <a:t>El gráfico k-distance y la búsqueda en grilla son obligatorios. Cambiar eps de 0.30 a 0.25 pasó el Silhouette score de 0.35 a </a:t>
            </a:r>
            <a:r>
              <a:rPr lang="en-US" sz="2250" b="true">
                <a:solidFill>
                  <a:srgbClr val="556070"/>
                </a:solidFill>
                <a:latin typeface="Poppins Bold"/>
                <a:ea typeface="Poppins Bold"/>
                <a:cs typeface="Poppins Bold"/>
                <a:sym typeface="Poppins Bold"/>
              </a:rPr>
              <a:t>0.58</a:t>
            </a:r>
            <a:r>
              <a:rPr lang="en-US" sz="2250">
                <a:solidFill>
                  <a:srgbClr val="55607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57150"/>
            <a:chOff x="0" y="0"/>
            <a:chExt cx="24384000" cy="76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76200"/>
            </a:xfrm>
            <a:custGeom>
              <a:avLst/>
              <a:gdLst/>
              <a:ahLst/>
              <a:cxnLst/>
              <a:rect r="r" b="b" t="t" l="l"/>
              <a:pathLst>
                <a:path h="76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1851B4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939803" y="1082678"/>
            <a:ext cx="3359869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b="true" sz="4500" spc="-89">
                <a:solidFill>
                  <a:srgbClr val="0D1B35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Referencias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14400" y="3558407"/>
            <a:ext cx="8001000" cy="9525"/>
            <a:chOff x="0" y="0"/>
            <a:chExt cx="10668000" cy="127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111253" y="2349503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[1]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6112" y="2235203"/>
            <a:ext cx="7275833" cy="123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M. Ester, H.-P. Kriegel, J. Sander y X. Xu, "A density-based algorithm for discovering clusters in large spatial databases with noise," </a:t>
            </a:r>
            <a:r>
              <a:rPr lang="en-US" sz="1800" i="true">
                <a:solidFill>
                  <a:srgbClr val="0D1B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KDD-96 </a:t>
            </a: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, Portland, 1996, pp. 226-231.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72600" y="3558407"/>
            <a:ext cx="8001000" cy="9525"/>
            <a:chOff x="0" y="0"/>
            <a:chExt cx="10668000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569453" y="2349503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[2]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14312" y="2235203"/>
            <a:ext cx="7275833" cy="123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J. Sander et al., "Density-based clustering in spatial databases: GDBSCAN," </a:t>
            </a:r>
            <a:r>
              <a:rPr lang="en-US" sz="1800" i="true">
                <a:solidFill>
                  <a:srgbClr val="0D1B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Data Mining and Knowledge Discovery </a:t>
            </a: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, vol. 2, no. 2, pp. 169-194, 1998.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4581306"/>
            <a:ext cx="8001000" cy="9525"/>
            <a:chOff x="0" y="0"/>
            <a:chExt cx="10668000" cy="12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11253" y="3726685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[3]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6112" y="3612385"/>
            <a:ext cx="7275833" cy="82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E. Schubert et al., "DBSCAN revisited, revisited," </a:t>
            </a:r>
            <a:r>
              <a:rPr lang="en-US" sz="1800" i="true">
                <a:solidFill>
                  <a:srgbClr val="0D1B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ACM Trans. Database Syst. </a:t>
            </a: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, vol. 42, no. 3, 2017. doi: 10.1145/3068335.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72600" y="4581306"/>
            <a:ext cx="8001000" cy="9525"/>
            <a:chOff x="0" y="0"/>
            <a:chExt cx="10668000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569453" y="3726685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[4]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14312" y="3612385"/>
            <a:ext cx="7275833" cy="82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F. Pedregosa et al., "Scikit-learn: Machine learning in Python," </a:t>
            </a:r>
            <a:r>
              <a:rPr lang="en-US" sz="1800" i="true">
                <a:solidFill>
                  <a:srgbClr val="0D1B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JMLR </a:t>
            </a: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, vol. 12, pp. 2825-2830, 2011.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5604196"/>
            <a:ext cx="8001000" cy="9525"/>
            <a:chOff x="0" y="0"/>
            <a:chExt cx="10668000" cy="127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11253" y="4749575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[5]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6112" y="4635275"/>
            <a:ext cx="7275833" cy="82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T. Hastie, R. Tibshirani y J. Friedman, </a:t>
            </a:r>
            <a:r>
              <a:rPr lang="en-US" sz="1800" i="true">
                <a:solidFill>
                  <a:srgbClr val="0D1B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The Elements of Statistical Learning </a:t>
            </a: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, 2da ed. New York: Springer, 2009.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72600" y="5604196"/>
            <a:ext cx="8001000" cy="9525"/>
            <a:chOff x="0" y="0"/>
            <a:chExt cx="10668000" cy="127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569453" y="4749575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[6]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14312" y="4635275"/>
            <a:ext cx="7275833" cy="82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Scikit-learn Developers, "sklearn.cluster.DBSCAN," </a:t>
            </a:r>
            <a:r>
              <a:rPr lang="en-US" sz="1800" i="true">
                <a:solidFill>
                  <a:srgbClr val="0D1B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scikit-learn docs </a:t>
            </a: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, 2024. scikit-learn.org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14400" y="6627095"/>
            <a:ext cx="8001000" cy="9525"/>
            <a:chOff x="0" y="0"/>
            <a:chExt cx="10668000" cy="127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111253" y="5772474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[7]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6112" y="5658174"/>
            <a:ext cx="7275833" cy="82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N. Rahmah e I. S. Sitanggang, "Determination of optimal epsilon (eps) value on DBSCAN," </a:t>
            </a:r>
            <a:r>
              <a:rPr lang="en-US" sz="1800" i="true">
                <a:solidFill>
                  <a:srgbClr val="0D1B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IOP Conf. Ser.</a:t>
            </a: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, vol. 31, 2016.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372600" y="6627095"/>
            <a:ext cx="8001000" cy="9525"/>
            <a:chOff x="0" y="0"/>
            <a:chExt cx="10668000" cy="127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9569453" y="5772474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[8]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14312" y="5658174"/>
            <a:ext cx="7275833" cy="8206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T. Ali, S. Asghar y N. A. Sajid, "Critical analysis of DBSCAN variations," </a:t>
            </a:r>
            <a:r>
              <a:rPr lang="en-US" sz="1800" i="true">
                <a:solidFill>
                  <a:srgbClr val="0D1B35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ICIET</a:t>
            </a: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, Karachi, 2010, pp. 1-6.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14400" y="8004277"/>
            <a:ext cx="8001000" cy="9525"/>
            <a:chOff x="0" y="0"/>
            <a:chExt cx="10668000" cy="127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668000" cy="12700"/>
            </a:xfrm>
            <a:custGeom>
              <a:avLst/>
              <a:gdLst/>
              <a:ahLst/>
              <a:cxnLst/>
              <a:rect r="r" b="b" t="t" l="l"/>
              <a:pathLst>
                <a:path h="12700" w="10668000">
                  <a:moveTo>
                    <a:pt x="0" y="0"/>
                  </a:moveTo>
                  <a:lnTo>
                    <a:pt x="10668000" y="0"/>
                  </a:lnTo>
                  <a:lnTo>
                    <a:pt x="10668000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D8E2F0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11253" y="6795364"/>
            <a:ext cx="43691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851B4"/>
                </a:solidFill>
                <a:latin typeface="Poppins"/>
                <a:ea typeface="Poppins"/>
                <a:cs typeface="Poppins"/>
                <a:sym typeface="Poppins"/>
              </a:rPr>
              <a:t>[9]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6112" y="6681064"/>
            <a:ext cx="7275833" cy="1239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1800">
                <a:solidFill>
                  <a:srgbClr val="0D1B35"/>
                </a:solidFill>
                <a:latin typeface="Poppins"/>
                <a:ea typeface="Poppins"/>
                <a:cs typeface="Poppins"/>
                <a:sym typeface="Poppins"/>
              </a:rPr>
              <a:t>Mall Customers Dataset, Kaggle, 2018. kaggle.com/datasets/vjchoudhary7/customer-segmentation-tutorial-in-python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DAHIer2SU7U</dc:identifier>
  <dcterms:modified xsi:type="dcterms:W3CDTF">2011-08-01T06:04:30Z</dcterms:modified>
  <cp:revision>1</cp:revision>
  <dc:title>Presentacion_dbsacn.pptx</dc:title>
</cp:coreProperties>
</file>